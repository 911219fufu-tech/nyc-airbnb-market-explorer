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585"/>
  </p:normalViewPr>
  <p:slideViewPr>
    <p:cSldViewPr snapToGrid="0" snapToObjects="1">
      <p:cViewPr varScale="1">
        <p:scale>
          <a:sx n="117" d="100"/>
          <a:sy n="117" d="100"/>
        </p:scale>
        <p:origin x="2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550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today I will present my project on exploring NYC Airbnb market patterns using interactive visualization. The goal is to transform Airbnb performance records into an interactive visual analytics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Airbnb market involves multiple dimensions, including price, demand, location, room type, and time. Traditional static charts cannot effectively reveal these relationships, so this project uses interactive visualization to support exploration.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Kaggle and contains monthly Airbnb performance records from 2021 to 2026. After preprocessing, it contains over 35,000 observations with spatial, temporal, and categorical variables.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dashboard interface. It integrates multiple coordinated views with filters and dynamic summary sections, allowing users to explore different market slices.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shows the spatial distribution of revenue. Revenue is not evenly distributed across New York City. Instead, higher-revenue areas are concentrated in certain ZIP codes, especially around central locations.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monthly revenue over time. We can see a strong peak around 2022, followed by a large decline in 2023 and 2024, then some partial recovery. This makes temporal context important.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 type comparison shows clear category differences. Hotel rooms and entire homes generate higher revenue, while private and shared rooms have lower average revenue.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supports interaction through date range filters, room type and property type filters, ZIP code selection, and metric selection. These controls update the visualizations dynamically.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main insights are spatial concentration, temporal variation, and category differences. Together, they show that Airbnb performance depends on multiple dimensions.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contributes a working visual analytics system based on a real-world dataset. In the demo, I will show the overview, filter by room type, change the time range, and explain how the coordinated views support 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nyc-airbnb-market-explorer.vercel.app/"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1E8"/>
        </a:solidFill>
        <a:effectLst/>
      </p:bgPr>
    </p:bg>
    <p:spTree>
      <p:nvGrpSpPr>
        <p:cNvPr id="1" name=""/>
        <p:cNvGrpSpPr/>
        <p:nvPr/>
      </p:nvGrpSpPr>
      <p:grpSpPr>
        <a:xfrm>
          <a:off x="0" y="0"/>
          <a:ext cx="0" cy="0"/>
          <a:chOff x="0" y="0"/>
          <a:chExt cx="0" cy="0"/>
        </a:xfrm>
      </p:grpSpPr>
      <p:sp>
        <p:nvSpPr>
          <p:cNvPr id="4" name="Text 1"/>
          <p:cNvSpPr/>
          <p:nvPr/>
        </p:nvSpPr>
        <p:spPr>
          <a:xfrm>
            <a:off x="4520300" y="623297"/>
            <a:ext cx="3151399" cy="146043"/>
          </a:xfrm>
          <a:prstGeom prst="rect">
            <a:avLst/>
          </a:prstGeom>
          <a:noFill/>
          <a:ln/>
        </p:spPr>
        <p:txBody>
          <a:bodyPr wrap="square" lIns="0" tIns="0" rIns="0" bIns="0" rtlCol="0" anchor="ctr"/>
          <a:lstStyle/>
          <a:p>
            <a:pPr marL="0" indent="0" algn="ctr">
              <a:buNone/>
            </a:pPr>
            <a:r>
              <a:rPr lang="en-US" sz="1100" b="1" dirty="0">
                <a:solidFill>
                  <a:srgbClr val="B95D49"/>
                </a:solidFill>
              </a:rPr>
              <a:t>INFORMATION VISUALIZATION FINAL PROJECT</a:t>
            </a:r>
            <a:endParaRPr lang="en-US" sz="1100" dirty="0"/>
          </a:p>
        </p:txBody>
      </p:sp>
      <p:sp>
        <p:nvSpPr>
          <p:cNvPr id="5" name="Text 2"/>
          <p:cNvSpPr/>
          <p:nvPr/>
        </p:nvSpPr>
        <p:spPr>
          <a:xfrm>
            <a:off x="3768166" y="1127606"/>
            <a:ext cx="4655667" cy="2787415"/>
          </a:xfrm>
          <a:prstGeom prst="rect">
            <a:avLst/>
          </a:prstGeom>
          <a:noFill/>
          <a:ln/>
        </p:spPr>
        <p:txBody>
          <a:bodyPr wrap="square" lIns="0" tIns="0" rIns="0" bIns="0" rtlCol="0" anchor="ctr"/>
          <a:lstStyle/>
          <a:p>
            <a:pPr marL="0" indent="0" algn="ctr">
              <a:buNone/>
            </a:pPr>
            <a:r>
              <a:rPr lang="en-US" sz="6600" b="1" dirty="0">
                <a:solidFill>
                  <a:srgbClr val="1E2633"/>
                </a:solidFill>
                <a:latin typeface="Aptos Display" pitchFamily="34" charset="0"/>
                <a:ea typeface="Aptos Display" pitchFamily="34" charset="-122"/>
                <a:cs typeface="Aptos Display" pitchFamily="34" charset="-120"/>
              </a:rPr>
              <a:t>NYC Airbnb</a:t>
            </a:r>
            <a:endParaRPr lang="en-US" sz="6600" dirty="0"/>
          </a:p>
          <a:p>
            <a:pPr marL="0" indent="0" algn="ctr">
              <a:buNone/>
            </a:pPr>
            <a:r>
              <a:rPr lang="en-US" sz="6600" b="1" dirty="0">
                <a:solidFill>
                  <a:srgbClr val="1E2633"/>
                </a:solidFill>
                <a:latin typeface="Aptos Display" pitchFamily="34" charset="0"/>
                <a:ea typeface="Aptos Display" pitchFamily="34" charset="-122"/>
                <a:cs typeface="Aptos Display" pitchFamily="34" charset="-120"/>
              </a:rPr>
              <a:t>Market Explorer</a:t>
            </a:r>
            <a:endParaRPr lang="en-US" sz="6600" dirty="0"/>
          </a:p>
        </p:txBody>
      </p:sp>
      <p:sp>
        <p:nvSpPr>
          <p:cNvPr id="6" name="Text 3"/>
          <p:cNvSpPr/>
          <p:nvPr/>
        </p:nvSpPr>
        <p:spPr>
          <a:xfrm>
            <a:off x="3810000" y="4320482"/>
            <a:ext cx="4572000" cy="502920"/>
          </a:xfrm>
          <a:prstGeom prst="rect">
            <a:avLst/>
          </a:prstGeom>
          <a:noFill/>
          <a:ln/>
        </p:spPr>
        <p:txBody>
          <a:bodyPr wrap="square" lIns="0" tIns="0" rIns="0" bIns="0" rtlCol="0" anchor="ctr">
            <a:normAutofit/>
          </a:bodyPr>
          <a:lstStyle/>
          <a:p>
            <a:pPr marL="0" indent="0">
              <a:buNone/>
            </a:pPr>
            <a:r>
              <a:rPr lang="en-US" sz="1500" dirty="0">
                <a:solidFill>
                  <a:srgbClr val="647084"/>
                </a:solidFill>
              </a:rPr>
              <a:t>Visualizing spatial and temporal patterns in NYC Airbnb performance using an interactive multi-view dashboard.</a:t>
            </a:r>
            <a:endParaRPr lang="en-US" sz="1500" dirty="0"/>
          </a:p>
        </p:txBody>
      </p:sp>
      <p:sp>
        <p:nvSpPr>
          <p:cNvPr id="8" name="Text 5"/>
          <p:cNvSpPr/>
          <p:nvPr/>
        </p:nvSpPr>
        <p:spPr>
          <a:xfrm>
            <a:off x="3541471" y="3767328"/>
            <a:ext cx="1892808" cy="146304"/>
          </a:xfrm>
          <a:prstGeom prst="rect">
            <a:avLst/>
          </a:prstGeom>
          <a:noFill/>
          <a:ln/>
        </p:spPr>
        <p:txBody>
          <a:bodyPr wrap="square" lIns="0" tIns="0" rIns="0" bIns="0" rtlCol="0" anchor="ctr">
            <a:normAutofit/>
          </a:bodyPr>
          <a:lstStyle/>
          <a:p>
            <a:pPr marL="0" indent="0">
              <a:buNone/>
            </a:pPr>
            <a:endParaRPr lang="en-US" sz="750" dirty="0"/>
          </a:p>
        </p:txBody>
      </p:sp>
      <p:sp>
        <p:nvSpPr>
          <p:cNvPr id="10" name="Text 7"/>
          <p:cNvSpPr/>
          <p:nvPr/>
        </p:nvSpPr>
        <p:spPr>
          <a:xfrm>
            <a:off x="5736031" y="3767328"/>
            <a:ext cx="1527048" cy="146304"/>
          </a:xfrm>
          <a:prstGeom prst="rect">
            <a:avLst/>
          </a:prstGeom>
          <a:noFill/>
          <a:ln/>
        </p:spPr>
        <p:txBody>
          <a:bodyPr wrap="square" lIns="0" tIns="0" rIns="0" bIns="0" rtlCol="0" anchor="ctr">
            <a:normAutofit/>
          </a:bodyPr>
          <a:lstStyle/>
          <a:p>
            <a:pPr marL="0" indent="0">
              <a:buNone/>
            </a:pPr>
            <a:endParaRPr lang="en-US" sz="750" dirty="0"/>
          </a:p>
        </p:txBody>
      </p:sp>
      <p:sp>
        <p:nvSpPr>
          <p:cNvPr id="12" name="Text 9"/>
          <p:cNvSpPr/>
          <p:nvPr/>
        </p:nvSpPr>
        <p:spPr>
          <a:xfrm>
            <a:off x="7564831" y="3767328"/>
            <a:ext cx="1024128" cy="146304"/>
          </a:xfrm>
          <a:prstGeom prst="rect">
            <a:avLst/>
          </a:prstGeom>
          <a:noFill/>
          <a:ln/>
        </p:spPr>
        <p:txBody>
          <a:bodyPr wrap="square" lIns="0" tIns="0" rIns="0" bIns="0" rtlCol="0" anchor="ctr">
            <a:normAutofit/>
          </a:bodyPr>
          <a:lstStyle/>
          <a:p>
            <a:pPr marL="0" indent="0">
              <a:buNone/>
            </a:pPr>
            <a:endParaRPr lang="en-US" sz="750" dirty="0"/>
          </a:p>
        </p:txBody>
      </p:sp>
      <p:sp>
        <p:nvSpPr>
          <p:cNvPr id="13" name="Text 10"/>
          <p:cNvSpPr/>
          <p:nvPr/>
        </p:nvSpPr>
        <p:spPr>
          <a:xfrm>
            <a:off x="3809999" y="5731783"/>
            <a:ext cx="4572000" cy="502920"/>
          </a:xfrm>
          <a:prstGeom prst="rect">
            <a:avLst/>
          </a:prstGeom>
          <a:noFill/>
          <a:ln/>
        </p:spPr>
        <p:txBody>
          <a:bodyPr wrap="square" lIns="0" tIns="0" rIns="0" bIns="0" rtlCol="0" anchor="ctr"/>
          <a:lstStyle/>
          <a:p>
            <a:pPr marL="0" indent="0" algn="ctr">
              <a:buNone/>
            </a:pPr>
            <a:r>
              <a:rPr lang="en-US" sz="1400" dirty="0">
                <a:solidFill>
                  <a:srgbClr val="1E2633"/>
                </a:solidFill>
              </a:rPr>
              <a:t>Joyce Fu (jf5456)</a:t>
            </a:r>
            <a:endParaRPr lang="en-US" sz="1400" dirty="0"/>
          </a:p>
          <a:p>
            <a:pPr marL="0" indent="0" algn="ctr">
              <a:buNone/>
            </a:pPr>
            <a:r>
              <a:rPr lang="en-US" sz="1400" dirty="0">
                <a:solidFill>
                  <a:srgbClr val="1E2633"/>
                </a:solidFill>
              </a:rPr>
              <a:t>NYU Tandon School of Engineering</a:t>
            </a:r>
            <a:endParaRPr lang="en-US" sz="1400" dirty="0"/>
          </a:p>
        </p:txBody>
      </p:sp>
      <p:sp>
        <p:nvSpPr>
          <p:cNvPr id="15" name="Text 11"/>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1</a:t>
            </a:r>
            <a:endParaRPr lang="en-US" sz="650" dirty="0"/>
          </a:p>
        </p:txBody>
      </p:sp>
      <p:pic>
        <p:nvPicPr>
          <p:cNvPr id="17" name="Picture 16">
            <a:extLst>
              <a:ext uri="{FF2B5EF4-FFF2-40B4-BE49-F238E27FC236}">
                <a16:creationId xmlns:a16="http://schemas.microsoft.com/office/drawing/2014/main" id="{7F8270A5-DA60-D975-5E43-03E56C914232}"/>
              </a:ext>
            </a:extLst>
          </p:cNvPr>
          <p:cNvPicPr>
            <a:picLocks noChangeAspect="1"/>
          </p:cNvPicPr>
          <p:nvPr/>
        </p:nvPicPr>
        <p:blipFill>
          <a:blip r:embed="rId3"/>
          <a:stretch>
            <a:fillRect/>
          </a:stretch>
        </p:blipFill>
        <p:spPr>
          <a:xfrm>
            <a:off x="2473724" y="917119"/>
            <a:ext cx="1579293" cy="11844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320040"/>
            <a:ext cx="12191695" cy="6858000"/>
          </a:xfrm>
          <a:prstGeom prst="rect">
            <a:avLst/>
          </a:prstGeom>
          <a:solidFill>
            <a:srgbClr val="F5F1E8"/>
          </a:solidFill>
          <a:ln w="12700">
            <a:solidFill>
              <a:srgbClr val="F5F1E8"/>
            </a:solidFill>
            <a:prstDash val="solid"/>
          </a:ln>
        </p:spPr>
        <p:txBody>
          <a:bodyPr/>
          <a:lstStyle/>
          <a:p>
            <a:endParaRPr lang="en-TW"/>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Problem &amp; Motivation</a:t>
            </a:r>
            <a:endParaRPr lang="en-US" sz="2800" dirty="0"/>
          </a:p>
        </p:txBody>
      </p:sp>
      <p:sp>
        <p:nvSpPr>
          <p:cNvPr id="4" name="Text 2"/>
          <p:cNvSpPr/>
          <p:nvPr/>
        </p:nvSpPr>
        <p:spPr>
          <a:xfrm>
            <a:off x="521208" y="777240"/>
            <a:ext cx="9875520" cy="256032"/>
          </a:xfrm>
          <a:prstGeom prst="rect">
            <a:avLst/>
          </a:prstGeom>
          <a:noFill/>
          <a:ln/>
        </p:spPr>
        <p:txBody>
          <a:bodyPr wrap="square" lIns="0" tIns="0" rIns="0" bIns="0" rtlCol="0" anchor="ctr"/>
          <a:lstStyle/>
          <a:p>
            <a:pPr marL="0" indent="0">
              <a:buNone/>
            </a:pPr>
            <a:r>
              <a:rPr lang="en-US" sz="1600" dirty="0">
                <a:solidFill>
                  <a:srgbClr val="647084"/>
                </a:solidFill>
              </a:rPr>
              <a:t>Airbnb market behavior is multidimensional and difficult to understand with static summaries.</a:t>
            </a:r>
            <a:endParaRPr lang="en-US" sz="1600" dirty="0"/>
          </a:p>
        </p:txBody>
      </p:sp>
      <p:grpSp>
        <p:nvGrpSpPr>
          <p:cNvPr id="36" name="Group 35">
            <a:extLst>
              <a:ext uri="{FF2B5EF4-FFF2-40B4-BE49-F238E27FC236}">
                <a16:creationId xmlns:a16="http://schemas.microsoft.com/office/drawing/2014/main" id="{A9A0C886-8B7D-0D00-EDA8-D96D92739CA4}"/>
              </a:ext>
            </a:extLst>
          </p:cNvPr>
          <p:cNvGrpSpPr/>
          <p:nvPr/>
        </p:nvGrpSpPr>
        <p:grpSpPr>
          <a:xfrm>
            <a:off x="746607" y="1967443"/>
            <a:ext cx="10698480" cy="1920240"/>
            <a:chOff x="557784" y="1399032"/>
            <a:chExt cx="10698480" cy="1920240"/>
          </a:xfrm>
        </p:grpSpPr>
        <p:sp>
          <p:nvSpPr>
            <p:cNvPr id="5" name="Shape 3"/>
            <p:cNvSpPr/>
            <p:nvPr/>
          </p:nvSpPr>
          <p:spPr>
            <a:xfrm>
              <a:off x="557784" y="1399032"/>
              <a:ext cx="10698480" cy="1920240"/>
            </a:xfrm>
            <a:prstGeom prst="roundRect">
              <a:avLst>
                <a:gd name="adj" fmla="val 5714"/>
              </a:avLst>
            </a:prstGeom>
            <a:solidFill>
              <a:srgbClr val="FFFFFF"/>
            </a:solidFill>
            <a:ln w="12700">
              <a:solidFill>
                <a:srgbClr val="D9D2C7">
                  <a:alpha val="80000"/>
                </a:srgbClr>
              </a:solidFill>
              <a:prstDash val="solid"/>
            </a:ln>
          </p:spPr>
          <p:txBody>
            <a:bodyPr/>
            <a:lstStyle/>
            <a:p>
              <a:endParaRPr lang="en-TW"/>
            </a:p>
          </p:txBody>
        </p:sp>
        <p:grpSp>
          <p:nvGrpSpPr>
            <p:cNvPr id="29" name="Group 28">
              <a:extLst>
                <a:ext uri="{FF2B5EF4-FFF2-40B4-BE49-F238E27FC236}">
                  <a16:creationId xmlns:a16="http://schemas.microsoft.com/office/drawing/2014/main" id="{B84FC38D-BEDD-775E-1686-49EE67533AD7}"/>
                </a:ext>
              </a:extLst>
            </p:cNvPr>
            <p:cNvGrpSpPr/>
            <p:nvPr/>
          </p:nvGrpSpPr>
          <p:grpSpPr>
            <a:xfrm>
              <a:off x="1024128" y="2029968"/>
              <a:ext cx="1828800" cy="658368"/>
              <a:chOff x="1024128" y="2029968"/>
              <a:chExt cx="1828800" cy="658368"/>
            </a:xfrm>
          </p:grpSpPr>
          <p:sp>
            <p:nvSpPr>
              <p:cNvPr id="6" name="Shape 4"/>
              <p:cNvSpPr/>
              <p:nvPr/>
            </p:nvSpPr>
            <p:spPr>
              <a:xfrm>
                <a:off x="1024128" y="2029968"/>
                <a:ext cx="1828800" cy="658368"/>
              </a:xfrm>
              <a:prstGeom prst="roundRect">
                <a:avLst>
                  <a:gd name="adj" fmla="val 16667"/>
                </a:avLst>
              </a:prstGeom>
              <a:solidFill>
                <a:srgbClr val="B95D49">
                  <a:alpha val="93000"/>
                </a:srgbClr>
              </a:solidFill>
              <a:ln w="12700">
                <a:solidFill>
                  <a:srgbClr val="B95D49">
                    <a:alpha val="80000"/>
                  </a:srgbClr>
                </a:solidFill>
                <a:prstDash val="solid"/>
              </a:ln>
            </p:spPr>
            <p:txBody>
              <a:bodyPr/>
              <a:lstStyle/>
              <a:p>
                <a:endParaRPr lang="en-TW"/>
              </a:p>
            </p:txBody>
          </p:sp>
          <p:sp>
            <p:nvSpPr>
              <p:cNvPr id="7" name="Text 5"/>
              <p:cNvSpPr/>
              <p:nvPr/>
            </p:nvSpPr>
            <p:spPr>
              <a:xfrm>
                <a:off x="1138428" y="2231136"/>
                <a:ext cx="1600200" cy="256032"/>
              </a:xfrm>
              <a:prstGeom prst="rect">
                <a:avLst/>
              </a:prstGeom>
              <a:noFill/>
              <a:ln/>
            </p:spPr>
            <p:txBody>
              <a:bodyPr wrap="square" lIns="0" tIns="0" rIns="0" bIns="0" rtlCol="0" anchor="ctr"/>
              <a:lstStyle/>
              <a:p>
                <a:pPr marL="0" indent="0" algn="ctr">
                  <a:buNone/>
                </a:pPr>
                <a:r>
                  <a:rPr lang="en-US" sz="1700" b="1" dirty="0">
                    <a:solidFill>
                      <a:srgbClr val="FFFFFF"/>
                    </a:solidFill>
                  </a:rPr>
                  <a:t>Price</a:t>
                </a:r>
                <a:endParaRPr lang="en-US" sz="1700" dirty="0"/>
              </a:p>
            </p:txBody>
          </p:sp>
        </p:grpSp>
        <p:sp>
          <p:nvSpPr>
            <p:cNvPr id="8" name="Text 6"/>
            <p:cNvSpPr/>
            <p:nvPr/>
          </p:nvSpPr>
          <p:spPr>
            <a:xfrm>
              <a:off x="3130296" y="2231136"/>
              <a:ext cx="256032" cy="256032"/>
            </a:xfrm>
            <a:prstGeom prst="rect">
              <a:avLst/>
            </a:prstGeom>
            <a:noFill/>
            <a:ln/>
          </p:spPr>
          <p:txBody>
            <a:bodyPr wrap="square" lIns="0" tIns="0" rIns="0" bIns="0" rtlCol="0" anchor="ctr"/>
            <a:lstStyle/>
            <a:p>
              <a:pPr marL="0" indent="0" algn="ctr">
                <a:buNone/>
              </a:pPr>
              <a:r>
                <a:rPr lang="en-US" sz="2100" b="1" dirty="0">
                  <a:solidFill>
                    <a:srgbClr val="647084"/>
                  </a:solidFill>
                </a:rPr>
                <a:t>+</a:t>
              </a:r>
              <a:endParaRPr lang="en-US" sz="2100" dirty="0"/>
            </a:p>
          </p:txBody>
        </p:sp>
        <p:grpSp>
          <p:nvGrpSpPr>
            <p:cNvPr id="31" name="Group 30">
              <a:extLst>
                <a:ext uri="{FF2B5EF4-FFF2-40B4-BE49-F238E27FC236}">
                  <a16:creationId xmlns:a16="http://schemas.microsoft.com/office/drawing/2014/main" id="{0B068070-060C-BEEB-9E5D-70903FBA0467}"/>
                </a:ext>
              </a:extLst>
            </p:cNvPr>
            <p:cNvGrpSpPr/>
            <p:nvPr/>
          </p:nvGrpSpPr>
          <p:grpSpPr>
            <a:xfrm>
              <a:off x="3663696" y="2029968"/>
              <a:ext cx="1828800" cy="658368"/>
              <a:chOff x="3639312" y="1920240"/>
              <a:chExt cx="1828800" cy="658368"/>
            </a:xfrm>
          </p:grpSpPr>
          <p:sp>
            <p:nvSpPr>
              <p:cNvPr id="9" name="Shape 7"/>
              <p:cNvSpPr/>
              <p:nvPr/>
            </p:nvSpPr>
            <p:spPr>
              <a:xfrm>
                <a:off x="3639312" y="1920240"/>
                <a:ext cx="1828800" cy="658368"/>
              </a:xfrm>
              <a:prstGeom prst="roundRect">
                <a:avLst>
                  <a:gd name="adj" fmla="val 16667"/>
                </a:avLst>
              </a:prstGeom>
              <a:solidFill>
                <a:srgbClr val="1F5361">
                  <a:alpha val="93000"/>
                </a:srgbClr>
              </a:solidFill>
              <a:ln w="12700">
                <a:solidFill>
                  <a:srgbClr val="1F5361">
                    <a:alpha val="80000"/>
                  </a:srgbClr>
                </a:solidFill>
                <a:prstDash val="solid"/>
              </a:ln>
            </p:spPr>
            <p:txBody>
              <a:bodyPr/>
              <a:lstStyle/>
              <a:p>
                <a:endParaRPr lang="en-TW"/>
              </a:p>
            </p:txBody>
          </p:sp>
          <p:sp>
            <p:nvSpPr>
              <p:cNvPr id="10" name="Text 8"/>
              <p:cNvSpPr/>
              <p:nvPr/>
            </p:nvSpPr>
            <p:spPr>
              <a:xfrm>
                <a:off x="3753612" y="2121408"/>
                <a:ext cx="1600200" cy="256032"/>
              </a:xfrm>
              <a:prstGeom prst="rect">
                <a:avLst/>
              </a:prstGeom>
              <a:noFill/>
              <a:ln/>
            </p:spPr>
            <p:txBody>
              <a:bodyPr wrap="square" lIns="0" tIns="0" rIns="0" bIns="0" rtlCol="0" anchor="ctr"/>
              <a:lstStyle/>
              <a:p>
                <a:pPr marL="0" indent="0" algn="ctr">
                  <a:buNone/>
                </a:pPr>
                <a:r>
                  <a:rPr lang="en-US" sz="1700" b="1" dirty="0">
                    <a:solidFill>
                      <a:srgbClr val="FFFFFF"/>
                    </a:solidFill>
                  </a:rPr>
                  <a:t>Demand</a:t>
                </a:r>
                <a:endParaRPr lang="en-US" sz="1700" dirty="0"/>
              </a:p>
            </p:txBody>
          </p:sp>
        </p:grpSp>
        <p:sp>
          <p:nvSpPr>
            <p:cNvPr id="11" name="Text 9"/>
            <p:cNvSpPr/>
            <p:nvPr/>
          </p:nvSpPr>
          <p:spPr>
            <a:xfrm>
              <a:off x="5769864" y="2231136"/>
              <a:ext cx="256032" cy="256032"/>
            </a:xfrm>
            <a:prstGeom prst="rect">
              <a:avLst/>
            </a:prstGeom>
            <a:noFill/>
            <a:ln/>
          </p:spPr>
          <p:txBody>
            <a:bodyPr wrap="square" lIns="0" tIns="0" rIns="0" bIns="0" rtlCol="0" anchor="ctr"/>
            <a:lstStyle/>
            <a:p>
              <a:pPr marL="0" indent="0" algn="ctr">
                <a:buNone/>
              </a:pPr>
              <a:r>
                <a:rPr lang="en-US" sz="2100" b="1" dirty="0">
                  <a:solidFill>
                    <a:srgbClr val="647084"/>
                  </a:solidFill>
                </a:rPr>
                <a:t>+</a:t>
              </a:r>
              <a:endParaRPr lang="en-US" sz="2100" dirty="0"/>
            </a:p>
          </p:txBody>
        </p:sp>
        <p:grpSp>
          <p:nvGrpSpPr>
            <p:cNvPr id="32" name="Group 31">
              <a:extLst>
                <a:ext uri="{FF2B5EF4-FFF2-40B4-BE49-F238E27FC236}">
                  <a16:creationId xmlns:a16="http://schemas.microsoft.com/office/drawing/2014/main" id="{97BA5486-9179-ADF8-7A67-889D0147B962}"/>
                </a:ext>
              </a:extLst>
            </p:cNvPr>
            <p:cNvGrpSpPr/>
            <p:nvPr/>
          </p:nvGrpSpPr>
          <p:grpSpPr>
            <a:xfrm>
              <a:off x="6303264" y="2029968"/>
              <a:ext cx="1828800" cy="658368"/>
              <a:chOff x="6291072" y="1920240"/>
              <a:chExt cx="1828800" cy="658368"/>
            </a:xfrm>
          </p:grpSpPr>
          <p:sp>
            <p:nvSpPr>
              <p:cNvPr id="12" name="Shape 10"/>
              <p:cNvSpPr/>
              <p:nvPr/>
            </p:nvSpPr>
            <p:spPr>
              <a:xfrm>
                <a:off x="6291072" y="1920240"/>
                <a:ext cx="1828800" cy="658368"/>
              </a:xfrm>
              <a:prstGeom prst="roundRect">
                <a:avLst>
                  <a:gd name="adj" fmla="val 16667"/>
                </a:avLst>
              </a:prstGeom>
              <a:solidFill>
                <a:srgbClr val="E5A83A">
                  <a:alpha val="93000"/>
                </a:srgbClr>
              </a:solidFill>
              <a:ln w="12700">
                <a:solidFill>
                  <a:srgbClr val="E5A83A">
                    <a:alpha val="80000"/>
                  </a:srgbClr>
                </a:solidFill>
                <a:prstDash val="solid"/>
              </a:ln>
            </p:spPr>
            <p:txBody>
              <a:bodyPr/>
              <a:lstStyle/>
              <a:p>
                <a:endParaRPr lang="en-TW"/>
              </a:p>
            </p:txBody>
          </p:sp>
          <p:sp>
            <p:nvSpPr>
              <p:cNvPr id="13" name="Text 11"/>
              <p:cNvSpPr/>
              <p:nvPr/>
            </p:nvSpPr>
            <p:spPr>
              <a:xfrm>
                <a:off x="6405372" y="2121408"/>
                <a:ext cx="1600200" cy="256032"/>
              </a:xfrm>
              <a:prstGeom prst="rect">
                <a:avLst/>
              </a:prstGeom>
              <a:noFill/>
              <a:ln/>
            </p:spPr>
            <p:txBody>
              <a:bodyPr wrap="square" lIns="0" tIns="0" rIns="0" bIns="0" rtlCol="0" anchor="ctr"/>
              <a:lstStyle/>
              <a:p>
                <a:pPr marL="0" indent="0" algn="ctr">
                  <a:buNone/>
                </a:pPr>
                <a:r>
                  <a:rPr lang="en-US" sz="1700" b="1" dirty="0">
                    <a:solidFill>
                      <a:srgbClr val="FFFFFF"/>
                    </a:solidFill>
                  </a:rPr>
                  <a:t>Location</a:t>
                </a:r>
                <a:endParaRPr lang="en-US" sz="1700" dirty="0"/>
              </a:p>
            </p:txBody>
          </p:sp>
        </p:grpSp>
        <p:sp>
          <p:nvSpPr>
            <p:cNvPr id="14" name="Text 12"/>
            <p:cNvSpPr/>
            <p:nvPr/>
          </p:nvSpPr>
          <p:spPr>
            <a:xfrm>
              <a:off x="8409432" y="2231136"/>
              <a:ext cx="256032" cy="256032"/>
            </a:xfrm>
            <a:prstGeom prst="rect">
              <a:avLst/>
            </a:prstGeom>
            <a:noFill/>
            <a:ln/>
          </p:spPr>
          <p:txBody>
            <a:bodyPr wrap="square" lIns="0" tIns="0" rIns="0" bIns="0" rtlCol="0" anchor="ctr"/>
            <a:lstStyle/>
            <a:p>
              <a:pPr marL="0" indent="0" algn="ctr">
                <a:buNone/>
              </a:pPr>
              <a:r>
                <a:rPr lang="en-US" sz="2100" b="1" dirty="0">
                  <a:solidFill>
                    <a:srgbClr val="647084"/>
                  </a:solidFill>
                </a:rPr>
                <a:t>+</a:t>
              </a:r>
              <a:endParaRPr lang="en-US" sz="2100" dirty="0"/>
            </a:p>
          </p:txBody>
        </p:sp>
        <p:grpSp>
          <p:nvGrpSpPr>
            <p:cNvPr id="33" name="Group 32">
              <a:extLst>
                <a:ext uri="{FF2B5EF4-FFF2-40B4-BE49-F238E27FC236}">
                  <a16:creationId xmlns:a16="http://schemas.microsoft.com/office/drawing/2014/main" id="{687A4962-DA39-4BD2-273A-4DB4BBFC9638}"/>
                </a:ext>
              </a:extLst>
            </p:cNvPr>
            <p:cNvGrpSpPr/>
            <p:nvPr/>
          </p:nvGrpSpPr>
          <p:grpSpPr>
            <a:xfrm>
              <a:off x="8942832" y="2029968"/>
              <a:ext cx="1828800" cy="658368"/>
              <a:chOff x="8942832" y="1920240"/>
              <a:chExt cx="1828800" cy="658368"/>
            </a:xfrm>
          </p:grpSpPr>
          <p:sp>
            <p:nvSpPr>
              <p:cNvPr id="15" name="Shape 13"/>
              <p:cNvSpPr/>
              <p:nvPr/>
            </p:nvSpPr>
            <p:spPr>
              <a:xfrm>
                <a:off x="8942832" y="1920240"/>
                <a:ext cx="1828800" cy="658368"/>
              </a:xfrm>
              <a:prstGeom prst="roundRect">
                <a:avLst>
                  <a:gd name="adj" fmla="val 16667"/>
                </a:avLst>
              </a:prstGeom>
              <a:solidFill>
                <a:srgbClr val="355AD8">
                  <a:alpha val="93000"/>
                </a:srgbClr>
              </a:solidFill>
              <a:ln w="12700">
                <a:solidFill>
                  <a:srgbClr val="355AD8">
                    <a:alpha val="80000"/>
                  </a:srgbClr>
                </a:solidFill>
                <a:prstDash val="solid"/>
              </a:ln>
            </p:spPr>
            <p:txBody>
              <a:bodyPr/>
              <a:lstStyle/>
              <a:p>
                <a:endParaRPr lang="en-TW"/>
              </a:p>
            </p:txBody>
          </p:sp>
          <p:sp>
            <p:nvSpPr>
              <p:cNvPr id="16" name="Text 14"/>
              <p:cNvSpPr/>
              <p:nvPr/>
            </p:nvSpPr>
            <p:spPr>
              <a:xfrm>
                <a:off x="9057132" y="2121408"/>
                <a:ext cx="1600200" cy="256032"/>
              </a:xfrm>
              <a:prstGeom prst="rect">
                <a:avLst/>
              </a:prstGeom>
              <a:noFill/>
              <a:ln/>
            </p:spPr>
            <p:txBody>
              <a:bodyPr wrap="square" lIns="0" tIns="0" rIns="0" bIns="0" rtlCol="0" anchor="ctr"/>
              <a:lstStyle/>
              <a:p>
                <a:pPr marL="0" indent="0" algn="ctr">
                  <a:buNone/>
                </a:pPr>
                <a:r>
                  <a:rPr lang="en-US" sz="1700" b="1" dirty="0">
                    <a:solidFill>
                      <a:srgbClr val="FFFFFF"/>
                    </a:solidFill>
                  </a:rPr>
                  <a:t>Time</a:t>
                </a:r>
                <a:endParaRPr lang="en-US" sz="1700" dirty="0"/>
              </a:p>
            </p:txBody>
          </p:sp>
        </p:grpSp>
      </p:grpSp>
      <p:grpSp>
        <p:nvGrpSpPr>
          <p:cNvPr id="35" name="Group 34">
            <a:extLst>
              <a:ext uri="{FF2B5EF4-FFF2-40B4-BE49-F238E27FC236}">
                <a16:creationId xmlns:a16="http://schemas.microsoft.com/office/drawing/2014/main" id="{8CACBB0F-96D9-970E-8DF0-03BEF8EFE32D}"/>
              </a:ext>
            </a:extLst>
          </p:cNvPr>
          <p:cNvGrpSpPr/>
          <p:nvPr/>
        </p:nvGrpSpPr>
        <p:grpSpPr>
          <a:xfrm>
            <a:off x="815187" y="4454611"/>
            <a:ext cx="10561320" cy="1325880"/>
            <a:chOff x="822960" y="3886200"/>
            <a:chExt cx="10561320" cy="1325880"/>
          </a:xfrm>
        </p:grpSpPr>
        <p:sp>
          <p:nvSpPr>
            <p:cNvPr id="17" name="Shape 15"/>
            <p:cNvSpPr/>
            <p:nvPr/>
          </p:nvSpPr>
          <p:spPr>
            <a:xfrm>
              <a:off x="822960" y="3886200"/>
              <a:ext cx="3520440" cy="1325880"/>
            </a:xfrm>
            <a:prstGeom prst="roundRect">
              <a:avLst>
                <a:gd name="adj" fmla="val 5517"/>
              </a:avLst>
            </a:prstGeom>
            <a:solidFill>
              <a:srgbClr val="FBFAF6"/>
            </a:solidFill>
            <a:ln w="12700">
              <a:solidFill>
                <a:srgbClr val="D9D2C7">
                  <a:alpha val="85000"/>
                </a:srgbClr>
              </a:solidFill>
              <a:prstDash val="solid"/>
            </a:ln>
          </p:spPr>
          <p:txBody>
            <a:bodyPr/>
            <a:lstStyle/>
            <a:p>
              <a:endParaRPr lang="en-TW"/>
            </a:p>
          </p:txBody>
        </p:sp>
        <p:sp>
          <p:nvSpPr>
            <p:cNvPr id="18" name="Shape 16"/>
            <p:cNvSpPr/>
            <p:nvPr/>
          </p:nvSpPr>
          <p:spPr>
            <a:xfrm>
              <a:off x="822960" y="3886200"/>
              <a:ext cx="73152" cy="1325880"/>
            </a:xfrm>
            <a:prstGeom prst="rect">
              <a:avLst/>
            </a:prstGeom>
            <a:solidFill>
              <a:srgbClr val="B95D49"/>
            </a:solidFill>
            <a:ln w="12700">
              <a:solidFill>
                <a:srgbClr val="B95D49"/>
              </a:solidFill>
              <a:prstDash val="solid"/>
            </a:ln>
          </p:spPr>
          <p:txBody>
            <a:bodyPr/>
            <a:lstStyle/>
            <a:p>
              <a:endParaRPr lang="en-TW"/>
            </a:p>
          </p:txBody>
        </p:sp>
        <p:sp>
          <p:nvSpPr>
            <p:cNvPr id="19" name="Text 17"/>
            <p:cNvSpPr/>
            <p:nvPr/>
          </p:nvSpPr>
          <p:spPr>
            <a:xfrm>
              <a:off x="1024128" y="4032504"/>
              <a:ext cx="3191256" cy="228600"/>
            </a:xfrm>
            <a:prstGeom prst="rect">
              <a:avLst/>
            </a:prstGeom>
            <a:noFill/>
            <a:ln/>
          </p:spPr>
          <p:txBody>
            <a:bodyPr wrap="square" lIns="0" tIns="0" rIns="0" bIns="0" rtlCol="0" anchor="ctr"/>
            <a:lstStyle/>
            <a:p>
              <a:pPr marL="0" indent="0">
                <a:buNone/>
              </a:pPr>
              <a:r>
                <a:rPr lang="en-US" sz="1400" b="1" dirty="0">
                  <a:solidFill>
                    <a:srgbClr val="1E2633"/>
                  </a:solidFill>
                </a:rPr>
                <a:t>Why static charts are not enough</a:t>
              </a:r>
              <a:endParaRPr lang="en-US" sz="1400" dirty="0"/>
            </a:p>
          </p:txBody>
        </p:sp>
        <p:sp>
          <p:nvSpPr>
            <p:cNvPr id="20" name="Text 18"/>
            <p:cNvSpPr/>
            <p:nvPr/>
          </p:nvSpPr>
          <p:spPr>
            <a:xfrm>
              <a:off x="1024128" y="4370832"/>
              <a:ext cx="3191256" cy="70408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Tables and one-off charts flatten spatial and temporal variation into a few averages.</a:t>
              </a:r>
              <a:endParaRPr lang="en-US" sz="1100" dirty="0"/>
            </a:p>
          </p:txBody>
        </p:sp>
        <p:sp>
          <p:nvSpPr>
            <p:cNvPr id="21" name="Shape 19"/>
            <p:cNvSpPr/>
            <p:nvPr/>
          </p:nvSpPr>
          <p:spPr>
            <a:xfrm>
              <a:off x="4526280" y="3886200"/>
              <a:ext cx="3520440" cy="1325880"/>
            </a:xfrm>
            <a:prstGeom prst="roundRect">
              <a:avLst>
                <a:gd name="adj" fmla="val 5517"/>
              </a:avLst>
            </a:prstGeom>
            <a:solidFill>
              <a:srgbClr val="FBFAF6"/>
            </a:solidFill>
            <a:ln w="12700">
              <a:solidFill>
                <a:srgbClr val="D9D2C7">
                  <a:alpha val="85000"/>
                </a:srgbClr>
              </a:solidFill>
              <a:prstDash val="solid"/>
            </a:ln>
          </p:spPr>
          <p:txBody>
            <a:bodyPr/>
            <a:lstStyle/>
            <a:p>
              <a:endParaRPr lang="en-TW"/>
            </a:p>
          </p:txBody>
        </p:sp>
        <p:sp>
          <p:nvSpPr>
            <p:cNvPr id="22" name="Shape 20"/>
            <p:cNvSpPr/>
            <p:nvPr/>
          </p:nvSpPr>
          <p:spPr>
            <a:xfrm>
              <a:off x="4526280" y="3886200"/>
              <a:ext cx="73152" cy="1325880"/>
            </a:xfrm>
            <a:prstGeom prst="rect">
              <a:avLst/>
            </a:prstGeom>
            <a:solidFill>
              <a:srgbClr val="1F5361"/>
            </a:solidFill>
            <a:ln w="12700">
              <a:solidFill>
                <a:srgbClr val="1F5361"/>
              </a:solidFill>
              <a:prstDash val="solid"/>
            </a:ln>
          </p:spPr>
          <p:txBody>
            <a:bodyPr/>
            <a:lstStyle/>
            <a:p>
              <a:endParaRPr lang="en-TW"/>
            </a:p>
          </p:txBody>
        </p:sp>
        <p:sp>
          <p:nvSpPr>
            <p:cNvPr id="23" name="Text 21"/>
            <p:cNvSpPr/>
            <p:nvPr/>
          </p:nvSpPr>
          <p:spPr>
            <a:xfrm>
              <a:off x="4727448" y="4032504"/>
              <a:ext cx="3191256" cy="228600"/>
            </a:xfrm>
            <a:prstGeom prst="rect">
              <a:avLst/>
            </a:prstGeom>
            <a:noFill/>
            <a:ln/>
          </p:spPr>
          <p:txBody>
            <a:bodyPr wrap="square" lIns="0" tIns="0" rIns="0" bIns="0" rtlCol="0" anchor="ctr"/>
            <a:lstStyle/>
            <a:p>
              <a:pPr marL="0" indent="0">
                <a:buNone/>
              </a:pPr>
              <a:r>
                <a:rPr lang="en-US" sz="1400" b="1" dirty="0">
                  <a:solidFill>
                    <a:srgbClr val="1E2633"/>
                  </a:solidFill>
                </a:rPr>
                <a:t>Key analytical questions</a:t>
              </a:r>
              <a:endParaRPr lang="en-US" sz="1400" dirty="0"/>
            </a:p>
          </p:txBody>
        </p:sp>
        <p:sp>
          <p:nvSpPr>
            <p:cNvPr id="24" name="Text 22"/>
            <p:cNvSpPr/>
            <p:nvPr/>
          </p:nvSpPr>
          <p:spPr>
            <a:xfrm>
              <a:off x="4727448" y="4370832"/>
              <a:ext cx="3191256" cy="70408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Where is revenue concentrated? How does performance change over time? How do room types differ?</a:t>
              </a:r>
              <a:endParaRPr lang="en-US" sz="1100" dirty="0"/>
            </a:p>
          </p:txBody>
        </p:sp>
        <p:sp>
          <p:nvSpPr>
            <p:cNvPr id="25" name="Shape 23"/>
            <p:cNvSpPr/>
            <p:nvPr/>
          </p:nvSpPr>
          <p:spPr>
            <a:xfrm>
              <a:off x="8229600" y="3886200"/>
              <a:ext cx="3154680" cy="1325880"/>
            </a:xfrm>
            <a:prstGeom prst="roundRect">
              <a:avLst>
                <a:gd name="adj" fmla="val 5517"/>
              </a:avLst>
            </a:prstGeom>
            <a:solidFill>
              <a:srgbClr val="FBFAF6"/>
            </a:solidFill>
            <a:ln w="12700">
              <a:solidFill>
                <a:srgbClr val="D9D2C7">
                  <a:alpha val="85000"/>
                </a:srgbClr>
              </a:solidFill>
              <a:prstDash val="solid"/>
            </a:ln>
          </p:spPr>
          <p:txBody>
            <a:bodyPr/>
            <a:lstStyle/>
            <a:p>
              <a:endParaRPr lang="en-TW"/>
            </a:p>
          </p:txBody>
        </p:sp>
        <p:sp>
          <p:nvSpPr>
            <p:cNvPr id="26" name="Shape 24"/>
            <p:cNvSpPr/>
            <p:nvPr/>
          </p:nvSpPr>
          <p:spPr>
            <a:xfrm>
              <a:off x="8229600" y="3886200"/>
              <a:ext cx="73152" cy="1325880"/>
            </a:xfrm>
            <a:prstGeom prst="rect">
              <a:avLst/>
            </a:prstGeom>
            <a:solidFill>
              <a:srgbClr val="355AD8"/>
            </a:solidFill>
            <a:ln w="12700">
              <a:solidFill>
                <a:srgbClr val="355AD8"/>
              </a:solidFill>
              <a:prstDash val="solid"/>
            </a:ln>
          </p:spPr>
          <p:txBody>
            <a:bodyPr/>
            <a:lstStyle/>
            <a:p>
              <a:endParaRPr lang="en-TW"/>
            </a:p>
          </p:txBody>
        </p:sp>
        <p:sp>
          <p:nvSpPr>
            <p:cNvPr id="27" name="Text 25"/>
            <p:cNvSpPr/>
            <p:nvPr/>
          </p:nvSpPr>
          <p:spPr>
            <a:xfrm>
              <a:off x="8430768" y="4032504"/>
              <a:ext cx="2825496" cy="228600"/>
            </a:xfrm>
            <a:prstGeom prst="rect">
              <a:avLst/>
            </a:prstGeom>
            <a:noFill/>
            <a:ln/>
          </p:spPr>
          <p:txBody>
            <a:bodyPr wrap="square" lIns="0" tIns="0" rIns="0" bIns="0" rtlCol="0" anchor="ctr"/>
            <a:lstStyle/>
            <a:p>
              <a:pPr marL="0" indent="0">
                <a:buNone/>
              </a:pPr>
              <a:r>
                <a:rPr lang="en-US" sz="1400" b="1" dirty="0">
                  <a:solidFill>
                    <a:srgbClr val="1E2633"/>
                  </a:solidFill>
                </a:rPr>
                <a:t>Visualization goal</a:t>
              </a:r>
              <a:endParaRPr lang="en-US" sz="1400" dirty="0"/>
            </a:p>
          </p:txBody>
        </p:sp>
        <p:sp>
          <p:nvSpPr>
            <p:cNvPr id="28" name="Text 26"/>
            <p:cNvSpPr/>
            <p:nvPr/>
          </p:nvSpPr>
          <p:spPr>
            <a:xfrm>
              <a:off x="8430768" y="4370832"/>
              <a:ext cx="2825496" cy="70408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Build an interactive system that supports exploration instead of only displaying aggregate statistics.</a:t>
              </a:r>
              <a:endParaRPr lang="en-US" sz="1100" dirty="0"/>
            </a:p>
          </p:txBody>
        </p:sp>
      </p:grpSp>
      <p:sp>
        <p:nvSpPr>
          <p:cNvPr id="30" name="Text 27"/>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2</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1E8"/>
          </a:solidFill>
          <a:ln w="12700">
            <a:solidFill>
              <a:srgbClr val="F5F1E8"/>
            </a:solidFill>
            <a:prstDash val="solid"/>
          </a:ln>
        </p:spPr>
        <p:txBody>
          <a:bodyPr/>
          <a:lstStyle/>
          <a:p>
            <a:endParaRPr lang="en-TW"/>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Dataset</a:t>
            </a:r>
            <a:endParaRPr lang="en-US" sz="2800" dirty="0"/>
          </a:p>
        </p:txBody>
      </p:sp>
      <p:sp>
        <p:nvSpPr>
          <p:cNvPr id="4" name="Text 2"/>
          <p:cNvSpPr/>
          <p:nvPr/>
        </p:nvSpPr>
        <p:spPr>
          <a:xfrm>
            <a:off x="521208" y="777240"/>
            <a:ext cx="9875520" cy="256032"/>
          </a:xfrm>
          <a:prstGeom prst="rect">
            <a:avLst/>
          </a:prstGeom>
          <a:noFill/>
          <a:ln/>
        </p:spPr>
        <p:txBody>
          <a:bodyPr wrap="square" lIns="0" tIns="0" rIns="0" bIns="0" rtlCol="0" anchor="ctr"/>
          <a:lstStyle/>
          <a:p>
            <a:pPr marL="0" indent="0">
              <a:buNone/>
            </a:pPr>
            <a:r>
              <a:rPr lang="en-US" sz="1600" dirty="0">
                <a:solidFill>
                  <a:srgbClr val="647084"/>
                </a:solidFill>
              </a:rPr>
              <a:t>Monthly NYC Airbnb performance data from Kaggle, covering 2021–2026.</a:t>
            </a:r>
            <a:endParaRPr lang="en-US" sz="1600" dirty="0"/>
          </a:p>
        </p:txBody>
      </p:sp>
      <p:sp>
        <p:nvSpPr>
          <p:cNvPr id="5" name="Shape 3"/>
          <p:cNvSpPr/>
          <p:nvPr/>
        </p:nvSpPr>
        <p:spPr>
          <a:xfrm>
            <a:off x="685800" y="1417320"/>
            <a:ext cx="2423160" cy="1115568"/>
          </a:xfrm>
          <a:prstGeom prst="roundRect">
            <a:avLst>
              <a:gd name="adj" fmla="val 9836"/>
            </a:avLst>
          </a:prstGeom>
          <a:solidFill>
            <a:srgbClr val="FFFFFF"/>
          </a:solidFill>
          <a:ln w="12700">
            <a:solidFill>
              <a:srgbClr val="D9D2C7">
                <a:alpha val="85000"/>
              </a:srgbClr>
            </a:solidFill>
            <a:prstDash val="solid"/>
          </a:ln>
        </p:spPr>
        <p:txBody>
          <a:bodyPr/>
          <a:lstStyle/>
          <a:p>
            <a:endParaRPr lang="en-TW"/>
          </a:p>
        </p:txBody>
      </p:sp>
      <p:sp>
        <p:nvSpPr>
          <p:cNvPr id="6" name="Text 4"/>
          <p:cNvSpPr/>
          <p:nvPr/>
        </p:nvSpPr>
        <p:spPr>
          <a:xfrm>
            <a:off x="850392" y="1591056"/>
            <a:ext cx="2057400" cy="347472"/>
          </a:xfrm>
          <a:prstGeom prst="rect">
            <a:avLst/>
          </a:prstGeom>
          <a:noFill/>
          <a:ln/>
        </p:spPr>
        <p:txBody>
          <a:bodyPr wrap="square" lIns="0" tIns="0" rIns="0" bIns="0" rtlCol="0" anchor="ctr"/>
          <a:lstStyle/>
          <a:p>
            <a:pPr marL="0" indent="0">
              <a:buNone/>
            </a:pPr>
            <a:r>
              <a:rPr lang="en-US" sz="2700" b="1" dirty="0">
                <a:solidFill>
                  <a:srgbClr val="1E2633"/>
                </a:solidFill>
              </a:rPr>
              <a:t>35,157</a:t>
            </a:r>
            <a:endParaRPr lang="en-US" sz="2700" dirty="0"/>
          </a:p>
        </p:txBody>
      </p:sp>
      <p:sp>
        <p:nvSpPr>
          <p:cNvPr id="7" name="Text 5"/>
          <p:cNvSpPr/>
          <p:nvPr/>
        </p:nvSpPr>
        <p:spPr>
          <a:xfrm>
            <a:off x="850392" y="2029968"/>
            <a:ext cx="2057400" cy="201168"/>
          </a:xfrm>
          <a:prstGeom prst="rect">
            <a:avLst/>
          </a:prstGeom>
          <a:noFill/>
          <a:ln/>
        </p:spPr>
        <p:txBody>
          <a:bodyPr wrap="square" lIns="0" tIns="0" rIns="0" bIns="0" rtlCol="0" anchor="ctr"/>
          <a:lstStyle/>
          <a:p>
            <a:pPr marL="0" indent="0">
              <a:buNone/>
            </a:pPr>
            <a:r>
              <a:rPr lang="en-US" sz="950" dirty="0">
                <a:solidFill>
                  <a:srgbClr val="647084"/>
                </a:solidFill>
              </a:rPr>
              <a:t>monthly observations</a:t>
            </a:r>
            <a:endParaRPr lang="en-US" sz="950" dirty="0"/>
          </a:p>
        </p:txBody>
      </p:sp>
      <p:sp>
        <p:nvSpPr>
          <p:cNvPr id="8" name="Shape 6"/>
          <p:cNvSpPr/>
          <p:nvPr/>
        </p:nvSpPr>
        <p:spPr>
          <a:xfrm>
            <a:off x="3502152" y="1417320"/>
            <a:ext cx="2423160" cy="1115568"/>
          </a:xfrm>
          <a:prstGeom prst="roundRect">
            <a:avLst>
              <a:gd name="adj" fmla="val 9836"/>
            </a:avLst>
          </a:prstGeom>
          <a:solidFill>
            <a:srgbClr val="FFFFFF"/>
          </a:solidFill>
          <a:ln w="12700">
            <a:solidFill>
              <a:srgbClr val="D9D2C7">
                <a:alpha val="85000"/>
              </a:srgbClr>
            </a:solidFill>
            <a:prstDash val="solid"/>
          </a:ln>
        </p:spPr>
        <p:txBody>
          <a:bodyPr/>
          <a:lstStyle/>
          <a:p>
            <a:endParaRPr lang="en-TW"/>
          </a:p>
        </p:txBody>
      </p:sp>
      <p:sp>
        <p:nvSpPr>
          <p:cNvPr id="9" name="Text 7"/>
          <p:cNvSpPr/>
          <p:nvPr/>
        </p:nvSpPr>
        <p:spPr>
          <a:xfrm>
            <a:off x="3666744" y="1591056"/>
            <a:ext cx="2057400" cy="347472"/>
          </a:xfrm>
          <a:prstGeom prst="rect">
            <a:avLst/>
          </a:prstGeom>
          <a:noFill/>
          <a:ln/>
        </p:spPr>
        <p:txBody>
          <a:bodyPr wrap="square" lIns="0" tIns="0" rIns="0" bIns="0" rtlCol="0" anchor="ctr"/>
          <a:lstStyle/>
          <a:p>
            <a:pPr marL="0" indent="0">
              <a:buNone/>
            </a:pPr>
            <a:r>
              <a:rPr lang="en-US" sz="2700" b="1" dirty="0">
                <a:solidFill>
                  <a:srgbClr val="1E2633"/>
                </a:solidFill>
              </a:rPr>
              <a:t>975</a:t>
            </a:r>
            <a:endParaRPr lang="en-US" sz="2700" dirty="0"/>
          </a:p>
        </p:txBody>
      </p:sp>
      <p:sp>
        <p:nvSpPr>
          <p:cNvPr id="10" name="Text 8"/>
          <p:cNvSpPr/>
          <p:nvPr/>
        </p:nvSpPr>
        <p:spPr>
          <a:xfrm>
            <a:off x="3666744" y="2029968"/>
            <a:ext cx="2057400" cy="201168"/>
          </a:xfrm>
          <a:prstGeom prst="rect">
            <a:avLst/>
          </a:prstGeom>
          <a:noFill/>
          <a:ln/>
        </p:spPr>
        <p:txBody>
          <a:bodyPr wrap="square" lIns="0" tIns="0" rIns="0" bIns="0" rtlCol="0" anchor="ctr"/>
          <a:lstStyle/>
          <a:p>
            <a:pPr marL="0" indent="0">
              <a:buNone/>
            </a:pPr>
            <a:r>
              <a:rPr lang="en-US" sz="950" dirty="0">
                <a:solidFill>
                  <a:srgbClr val="647084"/>
                </a:solidFill>
              </a:rPr>
              <a:t>unique listings</a:t>
            </a:r>
            <a:endParaRPr lang="en-US" sz="950" dirty="0"/>
          </a:p>
        </p:txBody>
      </p:sp>
      <p:sp>
        <p:nvSpPr>
          <p:cNvPr id="11" name="Shape 9"/>
          <p:cNvSpPr/>
          <p:nvPr/>
        </p:nvSpPr>
        <p:spPr>
          <a:xfrm>
            <a:off x="6318504" y="1417320"/>
            <a:ext cx="2423160" cy="1115568"/>
          </a:xfrm>
          <a:prstGeom prst="roundRect">
            <a:avLst>
              <a:gd name="adj" fmla="val 9836"/>
            </a:avLst>
          </a:prstGeom>
          <a:solidFill>
            <a:srgbClr val="FFFFFF"/>
          </a:solidFill>
          <a:ln w="12700">
            <a:solidFill>
              <a:srgbClr val="D9D2C7">
                <a:alpha val="85000"/>
              </a:srgbClr>
            </a:solidFill>
            <a:prstDash val="solid"/>
          </a:ln>
        </p:spPr>
        <p:txBody>
          <a:bodyPr/>
          <a:lstStyle/>
          <a:p>
            <a:endParaRPr lang="en-TW"/>
          </a:p>
        </p:txBody>
      </p:sp>
      <p:sp>
        <p:nvSpPr>
          <p:cNvPr id="12" name="Text 10"/>
          <p:cNvSpPr/>
          <p:nvPr/>
        </p:nvSpPr>
        <p:spPr>
          <a:xfrm>
            <a:off x="6483096" y="1591056"/>
            <a:ext cx="2057400" cy="347472"/>
          </a:xfrm>
          <a:prstGeom prst="rect">
            <a:avLst/>
          </a:prstGeom>
          <a:noFill/>
          <a:ln/>
        </p:spPr>
        <p:txBody>
          <a:bodyPr wrap="square" lIns="0" tIns="0" rIns="0" bIns="0" rtlCol="0" anchor="ctr"/>
          <a:lstStyle/>
          <a:p>
            <a:pPr marL="0" indent="0">
              <a:buNone/>
            </a:pPr>
            <a:r>
              <a:rPr lang="en-US" sz="2700" b="1" dirty="0">
                <a:solidFill>
                  <a:srgbClr val="1E2633"/>
                </a:solidFill>
              </a:rPr>
              <a:t>872</a:t>
            </a:r>
            <a:endParaRPr lang="en-US" sz="2700" dirty="0"/>
          </a:p>
        </p:txBody>
      </p:sp>
      <p:sp>
        <p:nvSpPr>
          <p:cNvPr id="13" name="Text 11"/>
          <p:cNvSpPr/>
          <p:nvPr/>
        </p:nvSpPr>
        <p:spPr>
          <a:xfrm>
            <a:off x="6483096" y="2029968"/>
            <a:ext cx="2057400" cy="201168"/>
          </a:xfrm>
          <a:prstGeom prst="rect">
            <a:avLst/>
          </a:prstGeom>
          <a:noFill/>
          <a:ln/>
        </p:spPr>
        <p:txBody>
          <a:bodyPr wrap="square" lIns="0" tIns="0" rIns="0" bIns="0" rtlCol="0" anchor="ctr"/>
          <a:lstStyle/>
          <a:p>
            <a:pPr marL="0" indent="0">
              <a:buNone/>
            </a:pPr>
            <a:r>
              <a:rPr lang="en-US" sz="950" dirty="0">
                <a:solidFill>
                  <a:srgbClr val="647084"/>
                </a:solidFill>
              </a:rPr>
              <a:t>unique hosts</a:t>
            </a:r>
            <a:endParaRPr lang="en-US" sz="950" dirty="0"/>
          </a:p>
        </p:txBody>
      </p:sp>
      <p:sp>
        <p:nvSpPr>
          <p:cNvPr id="14" name="Shape 12"/>
          <p:cNvSpPr/>
          <p:nvPr/>
        </p:nvSpPr>
        <p:spPr>
          <a:xfrm>
            <a:off x="9134856" y="1417320"/>
            <a:ext cx="2423160" cy="1115568"/>
          </a:xfrm>
          <a:prstGeom prst="roundRect">
            <a:avLst>
              <a:gd name="adj" fmla="val 9836"/>
            </a:avLst>
          </a:prstGeom>
          <a:solidFill>
            <a:srgbClr val="FFFFFF"/>
          </a:solidFill>
          <a:ln w="12700">
            <a:solidFill>
              <a:srgbClr val="D9D2C7">
                <a:alpha val="85000"/>
              </a:srgbClr>
            </a:solidFill>
            <a:prstDash val="solid"/>
          </a:ln>
        </p:spPr>
        <p:txBody>
          <a:bodyPr/>
          <a:lstStyle/>
          <a:p>
            <a:endParaRPr lang="en-TW"/>
          </a:p>
        </p:txBody>
      </p:sp>
      <p:sp>
        <p:nvSpPr>
          <p:cNvPr id="15" name="Text 13"/>
          <p:cNvSpPr/>
          <p:nvPr/>
        </p:nvSpPr>
        <p:spPr>
          <a:xfrm>
            <a:off x="9299448" y="1591056"/>
            <a:ext cx="2057400" cy="347472"/>
          </a:xfrm>
          <a:prstGeom prst="rect">
            <a:avLst/>
          </a:prstGeom>
          <a:noFill/>
          <a:ln/>
        </p:spPr>
        <p:txBody>
          <a:bodyPr wrap="square" lIns="0" tIns="0" rIns="0" bIns="0" rtlCol="0" anchor="ctr"/>
          <a:lstStyle/>
          <a:p>
            <a:pPr marL="0" indent="0">
              <a:buNone/>
            </a:pPr>
            <a:r>
              <a:rPr lang="en-US" sz="2700" b="1" dirty="0">
                <a:solidFill>
                  <a:srgbClr val="1E2633"/>
                </a:solidFill>
              </a:rPr>
              <a:t>161</a:t>
            </a:r>
            <a:endParaRPr lang="en-US" sz="2700" dirty="0"/>
          </a:p>
        </p:txBody>
      </p:sp>
      <p:sp>
        <p:nvSpPr>
          <p:cNvPr id="16" name="Text 14"/>
          <p:cNvSpPr/>
          <p:nvPr/>
        </p:nvSpPr>
        <p:spPr>
          <a:xfrm>
            <a:off x="9299448" y="2029968"/>
            <a:ext cx="2057400" cy="201168"/>
          </a:xfrm>
          <a:prstGeom prst="rect">
            <a:avLst/>
          </a:prstGeom>
          <a:noFill/>
          <a:ln/>
        </p:spPr>
        <p:txBody>
          <a:bodyPr wrap="square" lIns="0" tIns="0" rIns="0" bIns="0" rtlCol="0" anchor="ctr"/>
          <a:lstStyle/>
          <a:p>
            <a:pPr marL="0" indent="0">
              <a:buNone/>
            </a:pPr>
            <a:r>
              <a:rPr lang="en-US" sz="950" dirty="0">
                <a:solidFill>
                  <a:srgbClr val="647084"/>
                </a:solidFill>
              </a:rPr>
              <a:t>ZIP code areas</a:t>
            </a:r>
            <a:endParaRPr lang="en-US" sz="950" dirty="0"/>
          </a:p>
        </p:txBody>
      </p:sp>
      <p:sp>
        <p:nvSpPr>
          <p:cNvPr id="17" name="Text 15"/>
          <p:cNvSpPr/>
          <p:nvPr/>
        </p:nvSpPr>
        <p:spPr>
          <a:xfrm>
            <a:off x="777240" y="3154680"/>
            <a:ext cx="2377440" cy="274320"/>
          </a:xfrm>
          <a:prstGeom prst="rect">
            <a:avLst/>
          </a:prstGeom>
          <a:noFill/>
          <a:ln/>
        </p:spPr>
        <p:txBody>
          <a:bodyPr wrap="square" lIns="0" tIns="0" rIns="0" bIns="0" rtlCol="0" anchor="ctr"/>
          <a:lstStyle/>
          <a:p>
            <a:pPr marL="0" indent="0">
              <a:buNone/>
            </a:pPr>
            <a:r>
              <a:rPr lang="en-US" sz="1800" b="1" dirty="0">
                <a:solidFill>
                  <a:srgbClr val="1E2633"/>
                </a:solidFill>
              </a:rPr>
              <a:t>Key Variables</a:t>
            </a:r>
            <a:endParaRPr lang="en-US" sz="1800" dirty="0"/>
          </a:p>
        </p:txBody>
      </p:sp>
      <p:sp>
        <p:nvSpPr>
          <p:cNvPr id="18" name="Shape 16"/>
          <p:cNvSpPr/>
          <p:nvPr/>
        </p:nvSpPr>
        <p:spPr>
          <a:xfrm>
            <a:off x="841248" y="3657600"/>
            <a:ext cx="73152" cy="73152"/>
          </a:xfrm>
          <a:prstGeom prst="ellipse">
            <a:avLst/>
          </a:prstGeom>
          <a:solidFill>
            <a:srgbClr val="B95D49"/>
          </a:solidFill>
          <a:ln w="12700">
            <a:solidFill>
              <a:srgbClr val="B95D49"/>
            </a:solidFill>
            <a:prstDash val="solid"/>
          </a:ln>
        </p:spPr>
        <p:txBody>
          <a:bodyPr/>
          <a:lstStyle/>
          <a:p>
            <a:endParaRPr lang="en-TW"/>
          </a:p>
        </p:txBody>
      </p:sp>
      <p:sp>
        <p:nvSpPr>
          <p:cNvPr id="19" name="Text 17"/>
          <p:cNvSpPr/>
          <p:nvPr/>
        </p:nvSpPr>
        <p:spPr>
          <a:xfrm>
            <a:off x="1005840" y="3584448"/>
            <a:ext cx="484632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Location: latitude, longitude, ZIP code</a:t>
            </a:r>
            <a:endParaRPr lang="en-US" sz="1350" dirty="0"/>
          </a:p>
        </p:txBody>
      </p:sp>
      <p:sp>
        <p:nvSpPr>
          <p:cNvPr id="20" name="Shape 18"/>
          <p:cNvSpPr/>
          <p:nvPr/>
        </p:nvSpPr>
        <p:spPr>
          <a:xfrm>
            <a:off x="841248" y="4133088"/>
            <a:ext cx="73152" cy="73152"/>
          </a:xfrm>
          <a:prstGeom prst="ellipse">
            <a:avLst/>
          </a:prstGeom>
          <a:solidFill>
            <a:srgbClr val="B95D49"/>
          </a:solidFill>
          <a:ln w="12700">
            <a:solidFill>
              <a:srgbClr val="B95D49"/>
            </a:solidFill>
            <a:prstDash val="solid"/>
          </a:ln>
        </p:spPr>
        <p:txBody>
          <a:bodyPr/>
          <a:lstStyle/>
          <a:p>
            <a:endParaRPr lang="en-TW"/>
          </a:p>
        </p:txBody>
      </p:sp>
      <p:sp>
        <p:nvSpPr>
          <p:cNvPr id="21" name="Text 19"/>
          <p:cNvSpPr/>
          <p:nvPr/>
        </p:nvSpPr>
        <p:spPr>
          <a:xfrm>
            <a:off x="1005840" y="4059936"/>
            <a:ext cx="484632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Time: monthly records</a:t>
            </a:r>
            <a:endParaRPr lang="en-US" sz="1350" dirty="0"/>
          </a:p>
        </p:txBody>
      </p:sp>
      <p:sp>
        <p:nvSpPr>
          <p:cNvPr id="22" name="Shape 20"/>
          <p:cNvSpPr/>
          <p:nvPr/>
        </p:nvSpPr>
        <p:spPr>
          <a:xfrm>
            <a:off x="841248" y="4608576"/>
            <a:ext cx="73152" cy="73152"/>
          </a:xfrm>
          <a:prstGeom prst="ellipse">
            <a:avLst/>
          </a:prstGeom>
          <a:solidFill>
            <a:srgbClr val="B95D49"/>
          </a:solidFill>
          <a:ln w="12700">
            <a:solidFill>
              <a:srgbClr val="B95D49"/>
            </a:solidFill>
            <a:prstDash val="solid"/>
          </a:ln>
        </p:spPr>
        <p:txBody>
          <a:bodyPr/>
          <a:lstStyle/>
          <a:p>
            <a:endParaRPr lang="en-TW"/>
          </a:p>
        </p:txBody>
      </p:sp>
      <p:sp>
        <p:nvSpPr>
          <p:cNvPr id="23" name="Text 21"/>
          <p:cNvSpPr/>
          <p:nvPr/>
        </p:nvSpPr>
        <p:spPr>
          <a:xfrm>
            <a:off x="1005840" y="4535424"/>
            <a:ext cx="484632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Performance: revenue, occupancy, ADR, RevPAR</a:t>
            </a:r>
            <a:endParaRPr lang="en-US" sz="1350" dirty="0"/>
          </a:p>
        </p:txBody>
      </p:sp>
      <p:sp>
        <p:nvSpPr>
          <p:cNvPr id="24" name="Shape 22"/>
          <p:cNvSpPr/>
          <p:nvPr/>
        </p:nvSpPr>
        <p:spPr>
          <a:xfrm>
            <a:off x="841248" y="5084064"/>
            <a:ext cx="73152" cy="73152"/>
          </a:xfrm>
          <a:prstGeom prst="ellipse">
            <a:avLst/>
          </a:prstGeom>
          <a:solidFill>
            <a:srgbClr val="B95D49"/>
          </a:solidFill>
          <a:ln w="12700">
            <a:solidFill>
              <a:srgbClr val="B95D49"/>
            </a:solidFill>
            <a:prstDash val="solid"/>
          </a:ln>
        </p:spPr>
        <p:txBody>
          <a:bodyPr/>
          <a:lstStyle/>
          <a:p>
            <a:endParaRPr lang="en-TW"/>
          </a:p>
        </p:txBody>
      </p:sp>
      <p:sp>
        <p:nvSpPr>
          <p:cNvPr id="25" name="Text 23"/>
          <p:cNvSpPr/>
          <p:nvPr/>
        </p:nvSpPr>
        <p:spPr>
          <a:xfrm>
            <a:off x="1005840" y="5010912"/>
            <a:ext cx="484632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Categories: room type, property type</a:t>
            </a:r>
            <a:endParaRPr lang="en-US" sz="1350" dirty="0"/>
          </a:p>
        </p:txBody>
      </p:sp>
      <p:sp>
        <p:nvSpPr>
          <p:cNvPr id="26" name="Shape 24"/>
          <p:cNvSpPr/>
          <p:nvPr/>
        </p:nvSpPr>
        <p:spPr>
          <a:xfrm>
            <a:off x="6400800" y="3108960"/>
            <a:ext cx="4800600" cy="2011680"/>
          </a:xfrm>
          <a:prstGeom prst="roundRect">
            <a:avLst>
              <a:gd name="adj" fmla="val 3636"/>
            </a:avLst>
          </a:prstGeom>
          <a:solidFill>
            <a:srgbClr val="FBFAF6"/>
          </a:solidFill>
          <a:ln w="12700">
            <a:solidFill>
              <a:srgbClr val="D9D2C7">
                <a:alpha val="85000"/>
              </a:srgbClr>
            </a:solidFill>
            <a:prstDash val="solid"/>
          </a:ln>
        </p:spPr>
        <p:txBody>
          <a:bodyPr/>
          <a:lstStyle/>
          <a:p>
            <a:endParaRPr lang="en-TW"/>
          </a:p>
        </p:txBody>
      </p:sp>
      <p:sp>
        <p:nvSpPr>
          <p:cNvPr id="27" name="Shape 25"/>
          <p:cNvSpPr/>
          <p:nvPr/>
        </p:nvSpPr>
        <p:spPr>
          <a:xfrm>
            <a:off x="6400800" y="3108960"/>
            <a:ext cx="73152" cy="2011680"/>
          </a:xfrm>
          <a:prstGeom prst="rect">
            <a:avLst/>
          </a:prstGeom>
          <a:solidFill>
            <a:srgbClr val="E5A83A"/>
          </a:solidFill>
          <a:ln w="12700">
            <a:solidFill>
              <a:srgbClr val="E5A83A"/>
            </a:solidFill>
            <a:prstDash val="solid"/>
          </a:ln>
        </p:spPr>
        <p:txBody>
          <a:bodyPr/>
          <a:lstStyle/>
          <a:p>
            <a:endParaRPr lang="en-TW"/>
          </a:p>
        </p:txBody>
      </p:sp>
      <p:sp>
        <p:nvSpPr>
          <p:cNvPr id="28" name="Text 26"/>
          <p:cNvSpPr/>
          <p:nvPr/>
        </p:nvSpPr>
        <p:spPr>
          <a:xfrm>
            <a:off x="6601968" y="3255264"/>
            <a:ext cx="4471416" cy="228600"/>
          </a:xfrm>
          <a:prstGeom prst="rect">
            <a:avLst/>
          </a:prstGeom>
          <a:noFill/>
          <a:ln/>
        </p:spPr>
        <p:txBody>
          <a:bodyPr wrap="square" lIns="0" tIns="0" rIns="0" bIns="0" rtlCol="0" anchor="ctr"/>
          <a:lstStyle/>
          <a:p>
            <a:pPr marL="0" indent="0">
              <a:buNone/>
            </a:pPr>
            <a:r>
              <a:rPr lang="en-US" sz="1400" b="1" dirty="0">
                <a:solidFill>
                  <a:srgbClr val="1E2633"/>
                </a:solidFill>
              </a:rPr>
              <a:t>Why visualization is needed</a:t>
            </a:r>
            <a:endParaRPr lang="en-US" sz="1400" dirty="0"/>
          </a:p>
        </p:txBody>
      </p:sp>
      <p:sp>
        <p:nvSpPr>
          <p:cNvPr id="29" name="Text 27"/>
          <p:cNvSpPr/>
          <p:nvPr/>
        </p:nvSpPr>
        <p:spPr>
          <a:xfrm>
            <a:off x="6601968" y="3593592"/>
            <a:ext cx="4471416" cy="138988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The dataset combines spatial, temporal, categorical, and quantitative variables. Meaningful interpretation requires comparing multiple dimensions together.</a:t>
            </a:r>
            <a:endParaRPr lang="en-US" sz="1100" dirty="0"/>
          </a:p>
        </p:txBody>
      </p:sp>
      <p:sp>
        <p:nvSpPr>
          <p:cNvPr id="31" name="Text 28"/>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3</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1E8"/>
          </a:solidFill>
          <a:ln w="12700">
            <a:solidFill>
              <a:srgbClr val="F5F1E8"/>
            </a:solidFill>
            <a:prstDash val="solid"/>
          </a:ln>
        </p:spPr>
        <p:txBody>
          <a:bodyPr/>
          <a:lstStyle/>
          <a:p>
            <a:endParaRPr lang="en-TW"/>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System Overview</a:t>
            </a:r>
            <a:endParaRPr lang="en-US" sz="2800" dirty="0"/>
          </a:p>
        </p:txBody>
      </p:sp>
      <p:sp>
        <p:nvSpPr>
          <p:cNvPr id="4" name="Text 2"/>
          <p:cNvSpPr/>
          <p:nvPr/>
        </p:nvSpPr>
        <p:spPr>
          <a:xfrm>
            <a:off x="521208" y="777240"/>
            <a:ext cx="9875520" cy="557784"/>
          </a:xfrm>
          <a:prstGeom prst="rect">
            <a:avLst/>
          </a:prstGeom>
          <a:noFill/>
          <a:ln/>
        </p:spPr>
        <p:txBody>
          <a:bodyPr wrap="square" lIns="0" tIns="0" rIns="0" bIns="0" rtlCol="0" anchor="ctr"/>
          <a:lstStyle/>
          <a:p>
            <a:pPr marL="0" indent="0">
              <a:buNone/>
            </a:pPr>
            <a:r>
              <a:rPr lang="en-US" sz="1600" dirty="0">
                <a:solidFill>
                  <a:srgbClr val="647084"/>
                </a:solidFill>
              </a:rPr>
              <a:t>A coordinated multi-view dashboard for spatial, </a:t>
            </a:r>
          </a:p>
          <a:p>
            <a:pPr marL="0" indent="0">
              <a:buNone/>
            </a:pPr>
            <a:r>
              <a:rPr lang="en-US" sz="1600" dirty="0">
                <a:solidFill>
                  <a:srgbClr val="647084"/>
                </a:solidFill>
              </a:rPr>
              <a:t>temporal, and categorical analysis.</a:t>
            </a:r>
            <a:endParaRPr lang="en-US" sz="1600" dirty="0"/>
          </a:p>
        </p:txBody>
      </p:sp>
      <p:sp>
        <p:nvSpPr>
          <p:cNvPr id="7" name="Shape 4"/>
          <p:cNvSpPr/>
          <p:nvPr/>
        </p:nvSpPr>
        <p:spPr>
          <a:xfrm>
            <a:off x="521208" y="1810512"/>
            <a:ext cx="4846320" cy="1143000"/>
          </a:xfrm>
          <a:prstGeom prst="roundRect">
            <a:avLst>
              <a:gd name="adj" fmla="val 6400"/>
            </a:avLst>
          </a:prstGeom>
          <a:solidFill>
            <a:srgbClr val="FBFAF6"/>
          </a:solidFill>
          <a:ln w="12700">
            <a:solidFill>
              <a:srgbClr val="D9D2C7">
                <a:alpha val="85000"/>
              </a:srgbClr>
            </a:solidFill>
            <a:prstDash val="solid"/>
          </a:ln>
        </p:spPr>
        <p:txBody>
          <a:bodyPr/>
          <a:lstStyle/>
          <a:p>
            <a:endParaRPr lang="en-TW"/>
          </a:p>
        </p:txBody>
      </p:sp>
      <p:sp>
        <p:nvSpPr>
          <p:cNvPr id="8" name="Shape 5"/>
          <p:cNvSpPr/>
          <p:nvPr/>
        </p:nvSpPr>
        <p:spPr>
          <a:xfrm>
            <a:off x="521208" y="1810512"/>
            <a:ext cx="73152" cy="1143000"/>
          </a:xfrm>
          <a:prstGeom prst="rect">
            <a:avLst/>
          </a:prstGeom>
          <a:solidFill>
            <a:srgbClr val="1F5361"/>
          </a:solidFill>
          <a:ln w="12700">
            <a:solidFill>
              <a:srgbClr val="1F5361"/>
            </a:solidFill>
            <a:prstDash val="solid"/>
          </a:ln>
        </p:spPr>
        <p:txBody>
          <a:bodyPr/>
          <a:lstStyle/>
          <a:p>
            <a:endParaRPr lang="en-TW"/>
          </a:p>
        </p:txBody>
      </p:sp>
      <p:sp>
        <p:nvSpPr>
          <p:cNvPr id="9" name="Text 6"/>
          <p:cNvSpPr/>
          <p:nvPr/>
        </p:nvSpPr>
        <p:spPr>
          <a:xfrm>
            <a:off x="722376" y="1956816"/>
            <a:ext cx="4517136" cy="228600"/>
          </a:xfrm>
          <a:prstGeom prst="rect">
            <a:avLst/>
          </a:prstGeom>
          <a:noFill/>
          <a:ln/>
        </p:spPr>
        <p:txBody>
          <a:bodyPr wrap="square" lIns="0" tIns="0" rIns="0" bIns="0" rtlCol="0" anchor="ctr"/>
          <a:lstStyle/>
          <a:p>
            <a:pPr marL="0" indent="0">
              <a:buNone/>
            </a:pPr>
            <a:r>
              <a:rPr lang="en-US" sz="1400" b="1" dirty="0">
                <a:solidFill>
                  <a:srgbClr val="1E2633"/>
                </a:solidFill>
              </a:rPr>
              <a:t>Coordinated views</a:t>
            </a:r>
            <a:endParaRPr lang="en-US" sz="1400" dirty="0"/>
          </a:p>
        </p:txBody>
      </p:sp>
      <p:sp>
        <p:nvSpPr>
          <p:cNvPr id="10" name="Text 7"/>
          <p:cNvSpPr/>
          <p:nvPr/>
        </p:nvSpPr>
        <p:spPr>
          <a:xfrm>
            <a:off x="722376" y="2295144"/>
            <a:ext cx="4517136" cy="52120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The dashboard integrates map, trend, bar, and listing-level relationship views in one interface.</a:t>
            </a:r>
            <a:endParaRPr lang="en-US" sz="1100" dirty="0"/>
          </a:p>
        </p:txBody>
      </p:sp>
      <p:sp>
        <p:nvSpPr>
          <p:cNvPr id="11" name="Shape 8"/>
          <p:cNvSpPr/>
          <p:nvPr/>
        </p:nvSpPr>
        <p:spPr>
          <a:xfrm>
            <a:off x="502920" y="3429000"/>
            <a:ext cx="4846320" cy="1143000"/>
          </a:xfrm>
          <a:prstGeom prst="roundRect">
            <a:avLst>
              <a:gd name="adj" fmla="val 6400"/>
            </a:avLst>
          </a:prstGeom>
          <a:solidFill>
            <a:srgbClr val="FBFAF6"/>
          </a:solidFill>
          <a:ln w="12700">
            <a:solidFill>
              <a:srgbClr val="D9D2C7">
                <a:alpha val="85000"/>
              </a:srgbClr>
            </a:solidFill>
            <a:prstDash val="solid"/>
          </a:ln>
        </p:spPr>
        <p:txBody>
          <a:bodyPr/>
          <a:lstStyle/>
          <a:p>
            <a:endParaRPr lang="en-TW"/>
          </a:p>
        </p:txBody>
      </p:sp>
      <p:sp>
        <p:nvSpPr>
          <p:cNvPr id="12" name="Shape 9"/>
          <p:cNvSpPr/>
          <p:nvPr/>
        </p:nvSpPr>
        <p:spPr>
          <a:xfrm>
            <a:off x="502920" y="3429000"/>
            <a:ext cx="73152" cy="1143000"/>
          </a:xfrm>
          <a:prstGeom prst="rect">
            <a:avLst/>
          </a:prstGeom>
          <a:solidFill>
            <a:srgbClr val="355AD8"/>
          </a:solidFill>
          <a:ln w="12700">
            <a:solidFill>
              <a:srgbClr val="355AD8"/>
            </a:solidFill>
            <a:prstDash val="solid"/>
          </a:ln>
        </p:spPr>
        <p:txBody>
          <a:bodyPr/>
          <a:lstStyle/>
          <a:p>
            <a:endParaRPr lang="en-TW"/>
          </a:p>
        </p:txBody>
      </p:sp>
      <p:sp>
        <p:nvSpPr>
          <p:cNvPr id="13" name="Text 10"/>
          <p:cNvSpPr/>
          <p:nvPr/>
        </p:nvSpPr>
        <p:spPr>
          <a:xfrm>
            <a:off x="704088" y="3575304"/>
            <a:ext cx="4517136" cy="228600"/>
          </a:xfrm>
          <a:prstGeom prst="rect">
            <a:avLst/>
          </a:prstGeom>
          <a:noFill/>
          <a:ln/>
        </p:spPr>
        <p:txBody>
          <a:bodyPr wrap="square" lIns="0" tIns="0" rIns="0" bIns="0" rtlCol="0" anchor="ctr"/>
          <a:lstStyle/>
          <a:p>
            <a:pPr marL="0" indent="0">
              <a:buNone/>
            </a:pPr>
            <a:r>
              <a:rPr lang="en-US" sz="1400" b="1" dirty="0">
                <a:solidFill>
                  <a:srgbClr val="1E2633"/>
                </a:solidFill>
              </a:rPr>
              <a:t>Interactive filters</a:t>
            </a:r>
            <a:endParaRPr lang="en-US" sz="1400" dirty="0"/>
          </a:p>
        </p:txBody>
      </p:sp>
      <p:sp>
        <p:nvSpPr>
          <p:cNvPr id="14" name="Text 11"/>
          <p:cNvSpPr/>
          <p:nvPr/>
        </p:nvSpPr>
        <p:spPr>
          <a:xfrm>
            <a:off x="704088" y="3913632"/>
            <a:ext cx="4517136" cy="52120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Users can adjust time range, room type, property type, ZIP code, and metric to update the dashboard.</a:t>
            </a:r>
            <a:endParaRPr lang="en-US" sz="1100" dirty="0"/>
          </a:p>
        </p:txBody>
      </p:sp>
      <p:sp>
        <p:nvSpPr>
          <p:cNvPr id="15" name="Shape 12"/>
          <p:cNvSpPr/>
          <p:nvPr/>
        </p:nvSpPr>
        <p:spPr>
          <a:xfrm>
            <a:off x="502920" y="5019651"/>
            <a:ext cx="4846320" cy="1143000"/>
          </a:xfrm>
          <a:prstGeom prst="roundRect">
            <a:avLst>
              <a:gd name="adj" fmla="val 6400"/>
            </a:avLst>
          </a:prstGeom>
          <a:solidFill>
            <a:srgbClr val="FBFAF6"/>
          </a:solidFill>
          <a:ln w="12700">
            <a:solidFill>
              <a:srgbClr val="D9D2C7">
                <a:alpha val="85000"/>
              </a:srgbClr>
            </a:solidFill>
            <a:prstDash val="solid"/>
          </a:ln>
        </p:spPr>
        <p:txBody>
          <a:bodyPr/>
          <a:lstStyle/>
          <a:p>
            <a:endParaRPr lang="en-TW"/>
          </a:p>
        </p:txBody>
      </p:sp>
      <p:sp>
        <p:nvSpPr>
          <p:cNvPr id="16" name="Shape 13"/>
          <p:cNvSpPr/>
          <p:nvPr/>
        </p:nvSpPr>
        <p:spPr>
          <a:xfrm>
            <a:off x="502920" y="5019651"/>
            <a:ext cx="73152" cy="1143000"/>
          </a:xfrm>
          <a:prstGeom prst="rect">
            <a:avLst/>
          </a:prstGeom>
          <a:solidFill>
            <a:srgbClr val="B95D49"/>
          </a:solidFill>
          <a:ln w="12700">
            <a:solidFill>
              <a:srgbClr val="B95D49"/>
            </a:solidFill>
            <a:prstDash val="solid"/>
          </a:ln>
        </p:spPr>
        <p:txBody>
          <a:bodyPr/>
          <a:lstStyle/>
          <a:p>
            <a:endParaRPr lang="en-TW"/>
          </a:p>
        </p:txBody>
      </p:sp>
      <p:sp>
        <p:nvSpPr>
          <p:cNvPr id="17" name="Text 14"/>
          <p:cNvSpPr/>
          <p:nvPr/>
        </p:nvSpPr>
        <p:spPr>
          <a:xfrm>
            <a:off x="704088" y="5165955"/>
            <a:ext cx="4517136" cy="228600"/>
          </a:xfrm>
          <a:prstGeom prst="rect">
            <a:avLst/>
          </a:prstGeom>
          <a:noFill/>
          <a:ln/>
        </p:spPr>
        <p:txBody>
          <a:bodyPr wrap="square" lIns="0" tIns="0" rIns="0" bIns="0" rtlCol="0" anchor="ctr"/>
          <a:lstStyle/>
          <a:p>
            <a:pPr marL="0" indent="0">
              <a:buNone/>
            </a:pPr>
            <a:r>
              <a:rPr lang="en-US" sz="1400" b="1" dirty="0">
                <a:solidFill>
                  <a:srgbClr val="1E2633"/>
                </a:solidFill>
              </a:rPr>
              <a:t>Analysis workflow</a:t>
            </a:r>
            <a:endParaRPr lang="en-US" sz="1400" dirty="0"/>
          </a:p>
        </p:txBody>
      </p:sp>
      <p:sp>
        <p:nvSpPr>
          <p:cNvPr id="18" name="Text 15"/>
          <p:cNvSpPr/>
          <p:nvPr/>
        </p:nvSpPr>
        <p:spPr>
          <a:xfrm>
            <a:off x="704088" y="5504283"/>
            <a:ext cx="4517136" cy="52120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Start with the map, compare categories, inspect temporal patterns, then use insights to interpret market behavior.</a:t>
            </a:r>
            <a:endParaRPr lang="en-US" sz="1100" dirty="0"/>
          </a:p>
        </p:txBody>
      </p:sp>
      <p:sp>
        <p:nvSpPr>
          <p:cNvPr id="20" name="Text 16"/>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4</a:t>
            </a:r>
            <a:endParaRPr lang="en-US" sz="650" dirty="0"/>
          </a:p>
        </p:txBody>
      </p:sp>
      <p:pic>
        <p:nvPicPr>
          <p:cNvPr id="22" name="Picture 21">
            <a:extLst>
              <a:ext uri="{FF2B5EF4-FFF2-40B4-BE49-F238E27FC236}">
                <a16:creationId xmlns:a16="http://schemas.microsoft.com/office/drawing/2014/main" id="{ED42A654-F2BF-58AA-306F-A32AC2B1F690}"/>
              </a:ext>
            </a:extLst>
          </p:cNvPr>
          <p:cNvPicPr>
            <a:picLocks noChangeAspect="1"/>
          </p:cNvPicPr>
          <p:nvPr/>
        </p:nvPicPr>
        <p:blipFill>
          <a:blip r:embed="rId3"/>
          <a:stretch>
            <a:fillRect/>
          </a:stretch>
        </p:blipFill>
        <p:spPr>
          <a:xfrm>
            <a:off x="6812317" y="0"/>
            <a:ext cx="3898012"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320040"/>
            <a:ext cx="12191695" cy="6858000"/>
          </a:xfrm>
          <a:prstGeom prst="rect">
            <a:avLst/>
          </a:prstGeom>
          <a:solidFill>
            <a:srgbClr val="F5F1E8"/>
          </a:solidFill>
          <a:ln w="12700">
            <a:solidFill>
              <a:srgbClr val="F5F1E8"/>
            </a:solidFill>
            <a:prstDash val="solid"/>
          </a:ln>
        </p:spPr>
        <p:txBody>
          <a:bodyPr/>
          <a:lstStyle/>
          <a:p>
            <a:endParaRPr lang="en-TW"/>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Spatial Distribution</a:t>
            </a:r>
            <a:endParaRPr lang="en-US" sz="2800" dirty="0"/>
          </a:p>
        </p:txBody>
      </p:sp>
      <p:sp>
        <p:nvSpPr>
          <p:cNvPr id="4" name="Text 2"/>
          <p:cNvSpPr/>
          <p:nvPr/>
        </p:nvSpPr>
        <p:spPr>
          <a:xfrm>
            <a:off x="521208" y="777240"/>
            <a:ext cx="9875520" cy="256032"/>
          </a:xfrm>
          <a:prstGeom prst="rect">
            <a:avLst/>
          </a:prstGeom>
          <a:noFill/>
          <a:ln/>
        </p:spPr>
        <p:txBody>
          <a:bodyPr wrap="square" lIns="0" tIns="0" rIns="0" bIns="0" rtlCol="0" anchor="ctr"/>
          <a:lstStyle/>
          <a:p>
            <a:pPr marL="0" indent="0">
              <a:buNone/>
            </a:pPr>
            <a:r>
              <a:rPr lang="en-US" sz="1600" dirty="0">
                <a:solidFill>
                  <a:srgbClr val="647084"/>
                </a:solidFill>
              </a:rPr>
              <a:t>Revenue is concentrated in selected ZIP-code areas instead of being evenly distributed.</a:t>
            </a:r>
            <a:endParaRPr lang="en-US" sz="1600" dirty="0"/>
          </a:p>
        </p:txBody>
      </p:sp>
      <p:sp>
        <p:nvSpPr>
          <p:cNvPr id="5" name="Shape 3"/>
          <p:cNvSpPr/>
          <p:nvPr/>
        </p:nvSpPr>
        <p:spPr>
          <a:xfrm>
            <a:off x="502920" y="1115568"/>
            <a:ext cx="7498080" cy="5212080"/>
          </a:xfrm>
          <a:prstGeom prst="roundRect">
            <a:avLst>
              <a:gd name="adj" fmla="val 2105"/>
            </a:avLst>
          </a:prstGeom>
          <a:solidFill>
            <a:srgbClr val="FFFFFF"/>
          </a:solidFill>
          <a:ln w="12700">
            <a:solidFill>
              <a:srgbClr val="D9D2C7">
                <a:alpha val="75000"/>
              </a:srgbClr>
            </a:solidFill>
            <a:prstDash val="solid"/>
          </a:ln>
        </p:spPr>
        <p:txBody>
          <a:bodyPr/>
          <a:lstStyle/>
          <a:p>
            <a:endParaRPr lang="en-TW"/>
          </a:p>
        </p:txBody>
      </p:sp>
      <p:pic>
        <p:nvPicPr>
          <p:cNvPr id="6" name="Image 0" descr="/mnt/data/map.png"/>
          <p:cNvPicPr>
            <a:picLocks noChangeAspect="1"/>
          </p:cNvPicPr>
          <p:nvPr/>
        </p:nvPicPr>
        <p:blipFill>
          <a:blip r:embed="rId3"/>
          <a:srcRect t="12316" b="12316"/>
          <a:stretch/>
        </p:blipFill>
        <p:spPr>
          <a:xfrm>
            <a:off x="612648" y="1225296"/>
            <a:ext cx="7278624" cy="4992624"/>
          </a:xfrm>
          <a:prstGeom prst="rect">
            <a:avLst/>
          </a:prstGeom>
        </p:spPr>
      </p:pic>
      <p:sp>
        <p:nvSpPr>
          <p:cNvPr id="7" name="Text 4"/>
          <p:cNvSpPr/>
          <p:nvPr/>
        </p:nvSpPr>
        <p:spPr>
          <a:xfrm>
            <a:off x="8275320" y="1353312"/>
            <a:ext cx="3017520" cy="274320"/>
          </a:xfrm>
          <a:prstGeom prst="rect">
            <a:avLst/>
          </a:prstGeom>
          <a:noFill/>
          <a:ln/>
        </p:spPr>
        <p:txBody>
          <a:bodyPr wrap="square" lIns="0" tIns="0" rIns="0" bIns="0" rtlCol="0" anchor="ctr"/>
          <a:lstStyle/>
          <a:p>
            <a:pPr marL="0" indent="0">
              <a:buNone/>
            </a:pPr>
            <a:r>
              <a:rPr lang="en-US" b="1" dirty="0">
                <a:solidFill>
                  <a:srgbClr val="1E2633"/>
                </a:solidFill>
              </a:rPr>
              <a:t>Key Takeaway</a:t>
            </a:r>
            <a:endParaRPr lang="en-US" dirty="0"/>
          </a:p>
        </p:txBody>
      </p:sp>
      <p:sp>
        <p:nvSpPr>
          <p:cNvPr id="8" name="Shape 5"/>
          <p:cNvSpPr/>
          <p:nvPr/>
        </p:nvSpPr>
        <p:spPr>
          <a:xfrm>
            <a:off x="8275320" y="1901952"/>
            <a:ext cx="73152" cy="73152"/>
          </a:xfrm>
          <a:prstGeom prst="ellipse">
            <a:avLst/>
          </a:prstGeom>
          <a:solidFill>
            <a:srgbClr val="B95D49"/>
          </a:solidFill>
          <a:ln w="12700">
            <a:solidFill>
              <a:srgbClr val="B95D49"/>
            </a:solidFill>
            <a:prstDash val="solid"/>
          </a:ln>
        </p:spPr>
        <p:txBody>
          <a:bodyPr/>
          <a:lstStyle/>
          <a:p>
            <a:endParaRPr lang="en-TW"/>
          </a:p>
        </p:txBody>
      </p:sp>
      <p:sp>
        <p:nvSpPr>
          <p:cNvPr id="9" name="Text 6"/>
          <p:cNvSpPr/>
          <p:nvPr/>
        </p:nvSpPr>
        <p:spPr>
          <a:xfrm>
            <a:off x="8439912" y="1828800"/>
            <a:ext cx="32004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Bubble size reflects revenue</a:t>
            </a:r>
            <a:endParaRPr lang="en-US" sz="1350" dirty="0"/>
          </a:p>
        </p:txBody>
      </p:sp>
      <p:sp>
        <p:nvSpPr>
          <p:cNvPr id="10" name="Shape 7"/>
          <p:cNvSpPr/>
          <p:nvPr/>
        </p:nvSpPr>
        <p:spPr>
          <a:xfrm>
            <a:off x="8275320" y="2359152"/>
            <a:ext cx="73152" cy="73152"/>
          </a:xfrm>
          <a:prstGeom prst="ellipse">
            <a:avLst/>
          </a:prstGeom>
          <a:solidFill>
            <a:srgbClr val="B95D49"/>
          </a:solidFill>
          <a:ln w="12700">
            <a:solidFill>
              <a:srgbClr val="B95D49"/>
            </a:solidFill>
            <a:prstDash val="solid"/>
          </a:ln>
        </p:spPr>
        <p:txBody>
          <a:bodyPr/>
          <a:lstStyle/>
          <a:p>
            <a:endParaRPr lang="en-TW"/>
          </a:p>
        </p:txBody>
      </p:sp>
      <p:sp>
        <p:nvSpPr>
          <p:cNvPr id="11" name="Text 8"/>
          <p:cNvSpPr/>
          <p:nvPr/>
        </p:nvSpPr>
        <p:spPr>
          <a:xfrm>
            <a:off x="8439912" y="2286000"/>
            <a:ext cx="32004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Color intensity highlights stronger areas</a:t>
            </a:r>
            <a:endParaRPr lang="en-US" sz="1350" dirty="0"/>
          </a:p>
        </p:txBody>
      </p:sp>
      <p:sp>
        <p:nvSpPr>
          <p:cNvPr id="12" name="Shape 9"/>
          <p:cNvSpPr/>
          <p:nvPr/>
        </p:nvSpPr>
        <p:spPr>
          <a:xfrm>
            <a:off x="8275320" y="2816352"/>
            <a:ext cx="73152" cy="73152"/>
          </a:xfrm>
          <a:prstGeom prst="ellipse">
            <a:avLst/>
          </a:prstGeom>
          <a:solidFill>
            <a:srgbClr val="B95D49"/>
          </a:solidFill>
          <a:ln w="12700">
            <a:solidFill>
              <a:srgbClr val="B95D49"/>
            </a:solidFill>
            <a:prstDash val="solid"/>
          </a:ln>
        </p:spPr>
        <p:txBody>
          <a:bodyPr/>
          <a:lstStyle/>
          <a:p>
            <a:endParaRPr lang="en-TW"/>
          </a:p>
        </p:txBody>
      </p:sp>
      <p:sp>
        <p:nvSpPr>
          <p:cNvPr id="13" name="Text 10"/>
          <p:cNvSpPr/>
          <p:nvPr/>
        </p:nvSpPr>
        <p:spPr>
          <a:xfrm>
            <a:off x="8439912" y="2743200"/>
            <a:ext cx="3200400" cy="256032"/>
          </a:xfrm>
          <a:prstGeom prst="rect">
            <a:avLst/>
          </a:prstGeom>
          <a:noFill/>
          <a:ln/>
        </p:spPr>
        <p:txBody>
          <a:bodyPr wrap="square" lIns="0" tIns="0" rIns="0" bIns="0" rtlCol="0" anchor="ctr">
            <a:noAutofit/>
          </a:bodyPr>
          <a:lstStyle/>
          <a:p>
            <a:pPr marL="0" indent="0">
              <a:buNone/>
            </a:pPr>
            <a:r>
              <a:rPr lang="en-US" sz="1350" dirty="0">
                <a:solidFill>
                  <a:srgbClr val="1E2633"/>
                </a:solidFill>
              </a:rPr>
              <a:t>High-revenue ZIP codes cluster in limited locations</a:t>
            </a:r>
            <a:endParaRPr lang="en-US" sz="1350" dirty="0"/>
          </a:p>
        </p:txBody>
      </p:sp>
      <p:sp>
        <p:nvSpPr>
          <p:cNvPr id="14" name="Shape 11"/>
          <p:cNvSpPr/>
          <p:nvPr/>
        </p:nvSpPr>
        <p:spPr>
          <a:xfrm>
            <a:off x="8275320" y="4160520"/>
            <a:ext cx="3200400" cy="1417320"/>
          </a:xfrm>
          <a:prstGeom prst="roundRect">
            <a:avLst>
              <a:gd name="adj" fmla="val 5161"/>
            </a:avLst>
          </a:prstGeom>
          <a:solidFill>
            <a:srgbClr val="FBFAF6"/>
          </a:solidFill>
          <a:ln w="12700">
            <a:solidFill>
              <a:srgbClr val="D9D2C7">
                <a:alpha val="85000"/>
              </a:srgbClr>
            </a:solidFill>
            <a:prstDash val="solid"/>
          </a:ln>
        </p:spPr>
        <p:txBody>
          <a:bodyPr/>
          <a:lstStyle/>
          <a:p>
            <a:endParaRPr lang="en-TW"/>
          </a:p>
        </p:txBody>
      </p:sp>
      <p:sp>
        <p:nvSpPr>
          <p:cNvPr id="15" name="Shape 12"/>
          <p:cNvSpPr/>
          <p:nvPr/>
        </p:nvSpPr>
        <p:spPr>
          <a:xfrm>
            <a:off x="8275320" y="4160520"/>
            <a:ext cx="73152" cy="1417320"/>
          </a:xfrm>
          <a:prstGeom prst="rect">
            <a:avLst/>
          </a:prstGeom>
          <a:solidFill>
            <a:srgbClr val="B95D49"/>
          </a:solidFill>
          <a:ln w="12700">
            <a:solidFill>
              <a:srgbClr val="B95D49"/>
            </a:solidFill>
            <a:prstDash val="solid"/>
          </a:ln>
        </p:spPr>
        <p:txBody>
          <a:bodyPr/>
          <a:lstStyle/>
          <a:p>
            <a:endParaRPr lang="en-TW"/>
          </a:p>
        </p:txBody>
      </p:sp>
      <p:sp>
        <p:nvSpPr>
          <p:cNvPr id="16" name="Text 13"/>
          <p:cNvSpPr/>
          <p:nvPr/>
        </p:nvSpPr>
        <p:spPr>
          <a:xfrm>
            <a:off x="8476488" y="4306824"/>
            <a:ext cx="2871216" cy="228600"/>
          </a:xfrm>
          <a:prstGeom prst="rect">
            <a:avLst/>
          </a:prstGeom>
          <a:noFill/>
          <a:ln/>
        </p:spPr>
        <p:txBody>
          <a:bodyPr wrap="square" lIns="0" tIns="0" rIns="0" bIns="0" rtlCol="0" anchor="ctr"/>
          <a:lstStyle/>
          <a:p>
            <a:pPr marL="0" indent="0">
              <a:buNone/>
            </a:pPr>
            <a:r>
              <a:rPr lang="en-US" sz="1400" b="1" dirty="0">
                <a:solidFill>
                  <a:srgbClr val="1E2633"/>
                </a:solidFill>
              </a:rPr>
              <a:t>Insight</a:t>
            </a:r>
            <a:endParaRPr lang="en-US" sz="1200" dirty="0"/>
          </a:p>
        </p:txBody>
      </p:sp>
      <p:sp>
        <p:nvSpPr>
          <p:cNvPr id="17" name="Text 14"/>
          <p:cNvSpPr/>
          <p:nvPr/>
        </p:nvSpPr>
        <p:spPr>
          <a:xfrm>
            <a:off x="8476488" y="4645152"/>
            <a:ext cx="2871216" cy="79552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Location plays a major role in earning potential, so Airbnb performance should be evaluated at the local submarket level.</a:t>
            </a:r>
            <a:endParaRPr lang="en-US" sz="1100" dirty="0"/>
          </a:p>
        </p:txBody>
      </p:sp>
      <p:sp>
        <p:nvSpPr>
          <p:cNvPr id="19" name="Text 15"/>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5</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1E8"/>
          </a:solidFill>
          <a:ln w="12700">
            <a:solidFill>
              <a:srgbClr val="F5F1E8"/>
            </a:solidFill>
            <a:prstDash val="solid"/>
          </a:ln>
        </p:spPr>
        <p:txBody>
          <a:bodyPr/>
          <a:lstStyle/>
          <a:p>
            <a:endParaRPr lang="en-TW" dirty="0"/>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Temporal Trend</a:t>
            </a:r>
            <a:endParaRPr lang="en-US" sz="2800" dirty="0"/>
          </a:p>
        </p:txBody>
      </p:sp>
      <p:sp>
        <p:nvSpPr>
          <p:cNvPr id="4" name="Text 2"/>
          <p:cNvSpPr/>
          <p:nvPr/>
        </p:nvSpPr>
        <p:spPr>
          <a:xfrm>
            <a:off x="521208" y="777240"/>
            <a:ext cx="9875520" cy="256032"/>
          </a:xfrm>
          <a:prstGeom prst="rect">
            <a:avLst/>
          </a:prstGeom>
          <a:noFill/>
          <a:ln/>
        </p:spPr>
        <p:txBody>
          <a:bodyPr wrap="square" lIns="0" tIns="0" rIns="0" bIns="0" rtlCol="0" anchor="ctr"/>
          <a:lstStyle/>
          <a:p>
            <a:pPr marL="0" indent="0">
              <a:buNone/>
            </a:pPr>
            <a:r>
              <a:rPr lang="en-US" sz="1600" dirty="0">
                <a:solidFill>
                  <a:srgbClr val="647084"/>
                </a:solidFill>
              </a:rPr>
              <a:t>Monthly revenue changes substantially over the full data period.</a:t>
            </a:r>
            <a:endParaRPr lang="en-US" sz="1600" dirty="0"/>
          </a:p>
        </p:txBody>
      </p:sp>
      <p:sp>
        <p:nvSpPr>
          <p:cNvPr id="5" name="Shape 3"/>
          <p:cNvSpPr/>
          <p:nvPr/>
        </p:nvSpPr>
        <p:spPr>
          <a:xfrm>
            <a:off x="658368" y="1097280"/>
            <a:ext cx="4846320" cy="5349240"/>
          </a:xfrm>
          <a:prstGeom prst="roundRect">
            <a:avLst>
              <a:gd name="adj" fmla="val 2264"/>
            </a:avLst>
          </a:prstGeom>
          <a:solidFill>
            <a:srgbClr val="FFFFFF"/>
          </a:solidFill>
          <a:ln w="12700">
            <a:solidFill>
              <a:srgbClr val="D9D2C7">
                <a:alpha val="75000"/>
              </a:srgbClr>
            </a:solidFill>
            <a:prstDash val="solid"/>
          </a:ln>
        </p:spPr>
        <p:txBody>
          <a:bodyPr/>
          <a:lstStyle/>
          <a:p>
            <a:endParaRPr lang="en-TW"/>
          </a:p>
        </p:txBody>
      </p:sp>
      <p:pic>
        <p:nvPicPr>
          <p:cNvPr id="6" name="Image 0" descr="/mnt/data/Time Trend.png"/>
          <p:cNvPicPr>
            <a:picLocks noChangeAspect="1"/>
          </p:cNvPicPr>
          <p:nvPr/>
        </p:nvPicPr>
        <p:blipFill>
          <a:blip r:embed="rId3"/>
          <a:stretch>
            <a:fillRect/>
          </a:stretch>
        </p:blipFill>
        <p:spPr>
          <a:xfrm>
            <a:off x="1122661" y="1207008"/>
            <a:ext cx="3917735" cy="5129784"/>
          </a:xfrm>
          <a:prstGeom prst="rect">
            <a:avLst/>
          </a:prstGeom>
        </p:spPr>
      </p:pic>
      <p:sp>
        <p:nvSpPr>
          <p:cNvPr id="7" name="Text 4"/>
          <p:cNvSpPr/>
          <p:nvPr/>
        </p:nvSpPr>
        <p:spPr>
          <a:xfrm>
            <a:off x="5989320" y="1417320"/>
            <a:ext cx="4206240" cy="274320"/>
          </a:xfrm>
          <a:prstGeom prst="rect">
            <a:avLst/>
          </a:prstGeom>
          <a:noFill/>
          <a:ln/>
        </p:spPr>
        <p:txBody>
          <a:bodyPr wrap="square" lIns="0" tIns="0" rIns="0" bIns="0" rtlCol="0" anchor="ctr"/>
          <a:lstStyle/>
          <a:p>
            <a:pPr marL="0" indent="0">
              <a:buNone/>
            </a:pPr>
            <a:r>
              <a:rPr lang="en-US" sz="1800" b="1" dirty="0">
                <a:solidFill>
                  <a:srgbClr val="1E2633"/>
                </a:solidFill>
              </a:rPr>
              <a:t>What the chart shows</a:t>
            </a:r>
            <a:endParaRPr lang="en-US" sz="1800" dirty="0"/>
          </a:p>
        </p:txBody>
      </p:sp>
      <p:sp>
        <p:nvSpPr>
          <p:cNvPr id="8" name="Shape 5"/>
          <p:cNvSpPr/>
          <p:nvPr/>
        </p:nvSpPr>
        <p:spPr>
          <a:xfrm>
            <a:off x="6080760" y="1920240"/>
            <a:ext cx="73152" cy="73152"/>
          </a:xfrm>
          <a:prstGeom prst="ellipse">
            <a:avLst/>
          </a:prstGeom>
          <a:solidFill>
            <a:srgbClr val="B95D49"/>
          </a:solidFill>
          <a:ln w="12700">
            <a:solidFill>
              <a:srgbClr val="B95D49"/>
            </a:solidFill>
            <a:prstDash val="solid"/>
          </a:ln>
        </p:spPr>
        <p:txBody>
          <a:bodyPr/>
          <a:lstStyle/>
          <a:p>
            <a:endParaRPr lang="en-TW"/>
          </a:p>
        </p:txBody>
      </p:sp>
      <p:sp>
        <p:nvSpPr>
          <p:cNvPr id="9" name="Text 6"/>
          <p:cNvSpPr/>
          <p:nvPr/>
        </p:nvSpPr>
        <p:spPr>
          <a:xfrm>
            <a:off x="6245352" y="1847088"/>
            <a:ext cx="45720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Revenue peaks around 2022</a:t>
            </a:r>
            <a:endParaRPr lang="en-US" sz="1350" dirty="0"/>
          </a:p>
        </p:txBody>
      </p:sp>
      <p:sp>
        <p:nvSpPr>
          <p:cNvPr id="10" name="Shape 7"/>
          <p:cNvSpPr/>
          <p:nvPr/>
        </p:nvSpPr>
        <p:spPr>
          <a:xfrm>
            <a:off x="6080760" y="2359152"/>
            <a:ext cx="73152" cy="73152"/>
          </a:xfrm>
          <a:prstGeom prst="ellipse">
            <a:avLst/>
          </a:prstGeom>
          <a:solidFill>
            <a:srgbClr val="B95D49"/>
          </a:solidFill>
          <a:ln w="12700">
            <a:solidFill>
              <a:srgbClr val="B95D49"/>
            </a:solidFill>
            <a:prstDash val="solid"/>
          </a:ln>
        </p:spPr>
        <p:txBody>
          <a:bodyPr/>
          <a:lstStyle/>
          <a:p>
            <a:endParaRPr lang="en-TW"/>
          </a:p>
        </p:txBody>
      </p:sp>
      <p:sp>
        <p:nvSpPr>
          <p:cNvPr id="11" name="Text 8"/>
          <p:cNvSpPr/>
          <p:nvPr/>
        </p:nvSpPr>
        <p:spPr>
          <a:xfrm>
            <a:off x="6245352" y="2286000"/>
            <a:ext cx="45720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Strong decline through 2023–2024</a:t>
            </a:r>
            <a:endParaRPr lang="en-US" sz="1350" dirty="0"/>
          </a:p>
        </p:txBody>
      </p:sp>
      <p:sp>
        <p:nvSpPr>
          <p:cNvPr id="12" name="Shape 9"/>
          <p:cNvSpPr/>
          <p:nvPr/>
        </p:nvSpPr>
        <p:spPr>
          <a:xfrm>
            <a:off x="6080760" y="2798064"/>
            <a:ext cx="73152" cy="73152"/>
          </a:xfrm>
          <a:prstGeom prst="ellipse">
            <a:avLst/>
          </a:prstGeom>
          <a:solidFill>
            <a:srgbClr val="B95D49"/>
          </a:solidFill>
          <a:ln w="12700">
            <a:solidFill>
              <a:srgbClr val="B95D49"/>
            </a:solidFill>
            <a:prstDash val="solid"/>
          </a:ln>
        </p:spPr>
        <p:txBody>
          <a:bodyPr/>
          <a:lstStyle/>
          <a:p>
            <a:endParaRPr lang="en-TW"/>
          </a:p>
        </p:txBody>
      </p:sp>
      <p:sp>
        <p:nvSpPr>
          <p:cNvPr id="13" name="Text 10"/>
          <p:cNvSpPr/>
          <p:nvPr/>
        </p:nvSpPr>
        <p:spPr>
          <a:xfrm>
            <a:off x="6245352" y="2724912"/>
            <a:ext cx="45720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Partial recovery afterward</a:t>
            </a:r>
            <a:endParaRPr lang="en-US" sz="1350" dirty="0"/>
          </a:p>
        </p:txBody>
      </p:sp>
      <p:sp>
        <p:nvSpPr>
          <p:cNvPr id="14" name="Shape 11"/>
          <p:cNvSpPr/>
          <p:nvPr/>
        </p:nvSpPr>
        <p:spPr>
          <a:xfrm>
            <a:off x="6080760" y="3236976"/>
            <a:ext cx="73152" cy="73152"/>
          </a:xfrm>
          <a:prstGeom prst="ellipse">
            <a:avLst/>
          </a:prstGeom>
          <a:solidFill>
            <a:srgbClr val="B95D49"/>
          </a:solidFill>
          <a:ln w="12700">
            <a:solidFill>
              <a:srgbClr val="B95D49"/>
            </a:solidFill>
            <a:prstDash val="solid"/>
          </a:ln>
        </p:spPr>
        <p:txBody>
          <a:bodyPr/>
          <a:lstStyle/>
          <a:p>
            <a:endParaRPr lang="en-TW"/>
          </a:p>
        </p:txBody>
      </p:sp>
      <p:sp>
        <p:nvSpPr>
          <p:cNvPr id="15" name="Text 12"/>
          <p:cNvSpPr/>
          <p:nvPr/>
        </p:nvSpPr>
        <p:spPr>
          <a:xfrm>
            <a:off x="6245352" y="3163824"/>
            <a:ext cx="45720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Performance is not stable over time</a:t>
            </a:r>
            <a:endParaRPr lang="en-US" sz="1350" dirty="0"/>
          </a:p>
        </p:txBody>
      </p:sp>
      <p:sp>
        <p:nvSpPr>
          <p:cNvPr id="16" name="Shape 13"/>
          <p:cNvSpPr/>
          <p:nvPr/>
        </p:nvSpPr>
        <p:spPr>
          <a:xfrm>
            <a:off x="6080760" y="4434840"/>
            <a:ext cx="4754880" cy="1143000"/>
          </a:xfrm>
          <a:prstGeom prst="roundRect">
            <a:avLst>
              <a:gd name="adj" fmla="val 6400"/>
            </a:avLst>
          </a:prstGeom>
          <a:solidFill>
            <a:srgbClr val="FBFAF6"/>
          </a:solidFill>
          <a:ln w="12700">
            <a:solidFill>
              <a:srgbClr val="D9D2C7">
                <a:alpha val="85000"/>
              </a:srgbClr>
            </a:solidFill>
            <a:prstDash val="solid"/>
          </a:ln>
        </p:spPr>
        <p:txBody>
          <a:bodyPr/>
          <a:lstStyle/>
          <a:p>
            <a:endParaRPr lang="en-TW"/>
          </a:p>
        </p:txBody>
      </p:sp>
      <p:sp>
        <p:nvSpPr>
          <p:cNvPr id="17" name="Shape 14"/>
          <p:cNvSpPr/>
          <p:nvPr/>
        </p:nvSpPr>
        <p:spPr>
          <a:xfrm>
            <a:off x="6080760" y="4434840"/>
            <a:ext cx="73152" cy="1143000"/>
          </a:xfrm>
          <a:prstGeom prst="rect">
            <a:avLst/>
          </a:prstGeom>
          <a:solidFill>
            <a:srgbClr val="1F5361"/>
          </a:solidFill>
          <a:ln w="12700">
            <a:solidFill>
              <a:srgbClr val="1F5361"/>
            </a:solidFill>
            <a:prstDash val="solid"/>
          </a:ln>
        </p:spPr>
        <p:txBody>
          <a:bodyPr/>
          <a:lstStyle/>
          <a:p>
            <a:endParaRPr lang="en-TW"/>
          </a:p>
        </p:txBody>
      </p:sp>
      <p:sp>
        <p:nvSpPr>
          <p:cNvPr id="18" name="Text 15"/>
          <p:cNvSpPr/>
          <p:nvPr/>
        </p:nvSpPr>
        <p:spPr>
          <a:xfrm>
            <a:off x="6281928" y="4581144"/>
            <a:ext cx="4425696" cy="228600"/>
          </a:xfrm>
          <a:prstGeom prst="rect">
            <a:avLst/>
          </a:prstGeom>
          <a:noFill/>
          <a:ln/>
        </p:spPr>
        <p:txBody>
          <a:bodyPr wrap="square" lIns="0" tIns="0" rIns="0" bIns="0" rtlCol="0" anchor="ctr"/>
          <a:lstStyle/>
          <a:p>
            <a:pPr marL="0" indent="0">
              <a:buNone/>
            </a:pPr>
            <a:r>
              <a:rPr lang="en-US" sz="1400" b="1" dirty="0">
                <a:solidFill>
                  <a:srgbClr val="1E2633"/>
                </a:solidFill>
              </a:rPr>
              <a:t>Insight</a:t>
            </a:r>
            <a:endParaRPr lang="en-US" sz="1200" dirty="0"/>
          </a:p>
        </p:txBody>
      </p:sp>
      <p:sp>
        <p:nvSpPr>
          <p:cNvPr id="19" name="Text 16"/>
          <p:cNvSpPr/>
          <p:nvPr/>
        </p:nvSpPr>
        <p:spPr>
          <a:xfrm>
            <a:off x="6281928" y="4919472"/>
            <a:ext cx="4425696" cy="52120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Temporal context matters: a single average would hide major market fluctuations across the 2021–2026 period.</a:t>
            </a:r>
            <a:endParaRPr lang="en-US" sz="1100" dirty="0"/>
          </a:p>
        </p:txBody>
      </p:sp>
      <p:sp>
        <p:nvSpPr>
          <p:cNvPr id="21" name="Text 17"/>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6</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320040"/>
            <a:ext cx="12191695" cy="6858000"/>
          </a:xfrm>
          <a:prstGeom prst="rect">
            <a:avLst/>
          </a:prstGeom>
          <a:solidFill>
            <a:srgbClr val="F5F1E8"/>
          </a:solidFill>
          <a:ln w="12700">
            <a:solidFill>
              <a:srgbClr val="F5F1E8"/>
            </a:solidFill>
            <a:prstDash val="solid"/>
          </a:ln>
        </p:spPr>
        <p:txBody>
          <a:bodyPr/>
          <a:lstStyle/>
          <a:p>
            <a:endParaRPr lang="en-TW"/>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Room Type Comparison</a:t>
            </a:r>
            <a:endParaRPr lang="en-US" sz="2800" dirty="0"/>
          </a:p>
        </p:txBody>
      </p:sp>
      <p:sp>
        <p:nvSpPr>
          <p:cNvPr id="4" name="Text 2"/>
          <p:cNvSpPr/>
          <p:nvPr/>
        </p:nvSpPr>
        <p:spPr>
          <a:xfrm>
            <a:off x="521208" y="777240"/>
            <a:ext cx="9875520" cy="256032"/>
          </a:xfrm>
          <a:prstGeom prst="rect">
            <a:avLst/>
          </a:prstGeom>
          <a:noFill/>
          <a:ln/>
        </p:spPr>
        <p:txBody>
          <a:bodyPr wrap="square" lIns="0" tIns="0" rIns="0" bIns="0" rtlCol="0" anchor="ctr"/>
          <a:lstStyle/>
          <a:p>
            <a:pPr marL="0" indent="0">
              <a:buNone/>
            </a:pPr>
            <a:r>
              <a:rPr lang="en-US" sz="1600" dirty="0">
                <a:solidFill>
                  <a:srgbClr val="647084"/>
                </a:solidFill>
              </a:rPr>
              <a:t>Revenue differs substantially across accommodation formats.</a:t>
            </a:r>
            <a:endParaRPr lang="en-US" sz="1600" dirty="0"/>
          </a:p>
        </p:txBody>
      </p:sp>
      <p:sp>
        <p:nvSpPr>
          <p:cNvPr id="5" name="Shape 3"/>
          <p:cNvSpPr/>
          <p:nvPr/>
        </p:nvSpPr>
        <p:spPr>
          <a:xfrm>
            <a:off x="685800" y="1051560"/>
            <a:ext cx="4846320" cy="5394960"/>
          </a:xfrm>
          <a:prstGeom prst="roundRect">
            <a:avLst>
              <a:gd name="adj" fmla="val 2264"/>
            </a:avLst>
          </a:prstGeom>
          <a:solidFill>
            <a:srgbClr val="FFFFFF"/>
          </a:solidFill>
          <a:ln w="12700">
            <a:solidFill>
              <a:srgbClr val="D9D2C7">
                <a:alpha val="75000"/>
              </a:srgbClr>
            </a:solidFill>
            <a:prstDash val="solid"/>
          </a:ln>
        </p:spPr>
        <p:txBody>
          <a:bodyPr/>
          <a:lstStyle/>
          <a:p>
            <a:endParaRPr lang="en-TW"/>
          </a:p>
        </p:txBody>
      </p:sp>
      <p:pic>
        <p:nvPicPr>
          <p:cNvPr id="6" name="Image 0" descr="/mnt/data/Room Type Comparison.png"/>
          <p:cNvPicPr>
            <a:picLocks noChangeAspect="1"/>
          </p:cNvPicPr>
          <p:nvPr/>
        </p:nvPicPr>
        <p:blipFill>
          <a:blip r:embed="rId3"/>
          <a:stretch>
            <a:fillRect/>
          </a:stretch>
        </p:blipFill>
        <p:spPr>
          <a:xfrm>
            <a:off x="1136180" y="1161288"/>
            <a:ext cx="3945561" cy="5175504"/>
          </a:xfrm>
          <a:prstGeom prst="rect">
            <a:avLst/>
          </a:prstGeom>
        </p:spPr>
      </p:pic>
      <p:sp>
        <p:nvSpPr>
          <p:cNvPr id="7" name="Text 4"/>
          <p:cNvSpPr/>
          <p:nvPr/>
        </p:nvSpPr>
        <p:spPr>
          <a:xfrm>
            <a:off x="6080760" y="1417320"/>
            <a:ext cx="4206240" cy="274320"/>
          </a:xfrm>
          <a:prstGeom prst="rect">
            <a:avLst/>
          </a:prstGeom>
          <a:noFill/>
          <a:ln/>
        </p:spPr>
        <p:txBody>
          <a:bodyPr wrap="square" lIns="0" tIns="0" rIns="0" bIns="0" rtlCol="0" anchor="ctr"/>
          <a:lstStyle/>
          <a:p>
            <a:pPr marL="0" indent="0">
              <a:buNone/>
            </a:pPr>
            <a:r>
              <a:rPr lang="en-US" sz="1800" b="1" dirty="0">
                <a:solidFill>
                  <a:srgbClr val="1E2633"/>
                </a:solidFill>
              </a:rPr>
              <a:t>Category Pattern</a:t>
            </a:r>
            <a:endParaRPr lang="en-US" sz="1800" dirty="0"/>
          </a:p>
        </p:txBody>
      </p:sp>
      <p:sp>
        <p:nvSpPr>
          <p:cNvPr id="8" name="Shape 5"/>
          <p:cNvSpPr/>
          <p:nvPr/>
        </p:nvSpPr>
        <p:spPr>
          <a:xfrm>
            <a:off x="6172200" y="1920240"/>
            <a:ext cx="73152" cy="73152"/>
          </a:xfrm>
          <a:prstGeom prst="ellipse">
            <a:avLst/>
          </a:prstGeom>
          <a:solidFill>
            <a:srgbClr val="B95D49"/>
          </a:solidFill>
          <a:ln w="12700">
            <a:solidFill>
              <a:srgbClr val="B95D49"/>
            </a:solidFill>
            <a:prstDash val="solid"/>
          </a:ln>
        </p:spPr>
        <p:txBody>
          <a:bodyPr/>
          <a:lstStyle/>
          <a:p>
            <a:endParaRPr lang="en-TW"/>
          </a:p>
        </p:txBody>
      </p:sp>
      <p:sp>
        <p:nvSpPr>
          <p:cNvPr id="9" name="Text 6"/>
          <p:cNvSpPr/>
          <p:nvPr/>
        </p:nvSpPr>
        <p:spPr>
          <a:xfrm>
            <a:off x="6336792" y="1847088"/>
            <a:ext cx="45720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Hotel rooms have the highest average revenue</a:t>
            </a:r>
            <a:endParaRPr lang="en-US" sz="1350" dirty="0"/>
          </a:p>
        </p:txBody>
      </p:sp>
      <p:sp>
        <p:nvSpPr>
          <p:cNvPr id="10" name="Shape 7"/>
          <p:cNvSpPr/>
          <p:nvPr/>
        </p:nvSpPr>
        <p:spPr>
          <a:xfrm>
            <a:off x="6172200" y="2359152"/>
            <a:ext cx="73152" cy="73152"/>
          </a:xfrm>
          <a:prstGeom prst="ellipse">
            <a:avLst/>
          </a:prstGeom>
          <a:solidFill>
            <a:srgbClr val="B95D49"/>
          </a:solidFill>
          <a:ln w="12700">
            <a:solidFill>
              <a:srgbClr val="B95D49"/>
            </a:solidFill>
            <a:prstDash val="solid"/>
          </a:ln>
        </p:spPr>
        <p:txBody>
          <a:bodyPr/>
          <a:lstStyle/>
          <a:p>
            <a:endParaRPr lang="en-TW"/>
          </a:p>
        </p:txBody>
      </p:sp>
      <p:sp>
        <p:nvSpPr>
          <p:cNvPr id="11" name="Text 8"/>
          <p:cNvSpPr/>
          <p:nvPr/>
        </p:nvSpPr>
        <p:spPr>
          <a:xfrm>
            <a:off x="6336792" y="2286000"/>
            <a:ext cx="45720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Entire homes also perform strongly</a:t>
            </a:r>
            <a:endParaRPr lang="en-US" sz="1350" dirty="0"/>
          </a:p>
        </p:txBody>
      </p:sp>
      <p:sp>
        <p:nvSpPr>
          <p:cNvPr id="12" name="Shape 9"/>
          <p:cNvSpPr/>
          <p:nvPr/>
        </p:nvSpPr>
        <p:spPr>
          <a:xfrm>
            <a:off x="6172200" y="2798064"/>
            <a:ext cx="73152" cy="73152"/>
          </a:xfrm>
          <a:prstGeom prst="ellipse">
            <a:avLst/>
          </a:prstGeom>
          <a:solidFill>
            <a:srgbClr val="B95D49"/>
          </a:solidFill>
          <a:ln w="12700">
            <a:solidFill>
              <a:srgbClr val="B95D49"/>
            </a:solidFill>
            <a:prstDash val="solid"/>
          </a:ln>
        </p:spPr>
        <p:txBody>
          <a:bodyPr/>
          <a:lstStyle/>
          <a:p>
            <a:endParaRPr lang="en-TW"/>
          </a:p>
        </p:txBody>
      </p:sp>
      <p:sp>
        <p:nvSpPr>
          <p:cNvPr id="13" name="Text 10"/>
          <p:cNvSpPr/>
          <p:nvPr/>
        </p:nvSpPr>
        <p:spPr>
          <a:xfrm>
            <a:off x="6336792" y="2724912"/>
            <a:ext cx="45720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Private rooms are lower</a:t>
            </a:r>
            <a:endParaRPr lang="en-US" sz="1350" dirty="0"/>
          </a:p>
        </p:txBody>
      </p:sp>
      <p:sp>
        <p:nvSpPr>
          <p:cNvPr id="14" name="Shape 11"/>
          <p:cNvSpPr/>
          <p:nvPr/>
        </p:nvSpPr>
        <p:spPr>
          <a:xfrm>
            <a:off x="6172200" y="3236976"/>
            <a:ext cx="73152" cy="73152"/>
          </a:xfrm>
          <a:prstGeom prst="ellipse">
            <a:avLst/>
          </a:prstGeom>
          <a:solidFill>
            <a:srgbClr val="B95D49"/>
          </a:solidFill>
          <a:ln w="12700">
            <a:solidFill>
              <a:srgbClr val="B95D49"/>
            </a:solidFill>
            <a:prstDash val="solid"/>
          </a:ln>
        </p:spPr>
        <p:txBody>
          <a:bodyPr/>
          <a:lstStyle/>
          <a:p>
            <a:endParaRPr lang="en-TW"/>
          </a:p>
        </p:txBody>
      </p:sp>
      <p:sp>
        <p:nvSpPr>
          <p:cNvPr id="15" name="Text 12"/>
          <p:cNvSpPr/>
          <p:nvPr/>
        </p:nvSpPr>
        <p:spPr>
          <a:xfrm>
            <a:off x="6336792" y="3163824"/>
            <a:ext cx="45720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Shared rooms have the lowest revenue</a:t>
            </a:r>
            <a:endParaRPr lang="en-US" sz="1350" dirty="0"/>
          </a:p>
        </p:txBody>
      </p:sp>
      <p:sp>
        <p:nvSpPr>
          <p:cNvPr id="16" name="Shape 13"/>
          <p:cNvSpPr/>
          <p:nvPr/>
        </p:nvSpPr>
        <p:spPr>
          <a:xfrm>
            <a:off x="6172200" y="4434840"/>
            <a:ext cx="4754880" cy="1143000"/>
          </a:xfrm>
          <a:prstGeom prst="roundRect">
            <a:avLst>
              <a:gd name="adj" fmla="val 6400"/>
            </a:avLst>
          </a:prstGeom>
          <a:solidFill>
            <a:srgbClr val="FBFAF6"/>
          </a:solidFill>
          <a:ln w="12700">
            <a:solidFill>
              <a:srgbClr val="D9D2C7">
                <a:alpha val="85000"/>
              </a:srgbClr>
            </a:solidFill>
            <a:prstDash val="solid"/>
          </a:ln>
        </p:spPr>
        <p:txBody>
          <a:bodyPr/>
          <a:lstStyle/>
          <a:p>
            <a:endParaRPr lang="en-TW"/>
          </a:p>
        </p:txBody>
      </p:sp>
      <p:sp>
        <p:nvSpPr>
          <p:cNvPr id="17" name="Shape 14"/>
          <p:cNvSpPr/>
          <p:nvPr/>
        </p:nvSpPr>
        <p:spPr>
          <a:xfrm>
            <a:off x="6172200" y="4434840"/>
            <a:ext cx="73152" cy="1143000"/>
          </a:xfrm>
          <a:prstGeom prst="rect">
            <a:avLst/>
          </a:prstGeom>
          <a:solidFill>
            <a:srgbClr val="E5A83A"/>
          </a:solidFill>
          <a:ln w="12700">
            <a:solidFill>
              <a:srgbClr val="E5A83A"/>
            </a:solidFill>
            <a:prstDash val="solid"/>
          </a:ln>
        </p:spPr>
        <p:txBody>
          <a:bodyPr/>
          <a:lstStyle/>
          <a:p>
            <a:endParaRPr lang="en-TW"/>
          </a:p>
        </p:txBody>
      </p:sp>
      <p:sp>
        <p:nvSpPr>
          <p:cNvPr id="18" name="Text 15"/>
          <p:cNvSpPr/>
          <p:nvPr/>
        </p:nvSpPr>
        <p:spPr>
          <a:xfrm>
            <a:off x="6373368" y="4581144"/>
            <a:ext cx="4425696" cy="228600"/>
          </a:xfrm>
          <a:prstGeom prst="rect">
            <a:avLst/>
          </a:prstGeom>
          <a:noFill/>
          <a:ln/>
        </p:spPr>
        <p:txBody>
          <a:bodyPr wrap="square" lIns="0" tIns="0" rIns="0" bIns="0" rtlCol="0" anchor="ctr"/>
          <a:lstStyle/>
          <a:p>
            <a:pPr marL="0" indent="0">
              <a:buNone/>
            </a:pPr>
            <a:r>
              <a:rPr lang="en-US" sz="1400" b="1" dirty="0">
                <a:solidFill>
                  <a:srgbClr val="1E2633"/>
                </a:solidFill>
              </a:rPr>
              <a:t>Interpretation</a:t>
            </a:r>
            <a:endParaRPr lang="en-US" sz="1400" dirty="0"/>
          </a:p>
        </p:txBody>
      </p:sp>
      <p:sp>
        <p:nvSpPr>
          <p:cNvPr id="19" name="Text 16"/>
          <p:cNvSpPr/>
          <p:nvPr/>
        </p:nvSpPr>
        <p:spPr>
          <a:xfrm>
            <a:off x="6373368" y="4919472"/>
            <a:ext cx="4425696" cy="52120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Listing category affects market performance, so revenue should not be interpreted only at the city-wide average level.</a:t>
            </a:r>
            <a:endParaRPr lang="en-US" sz="1100" dirty="0"/>
          </a:p>
        </p:txBody>
      </p:sp>
      <p:sp>
        <p:nvSpPr>
          <p:cNvPr id="21" name="Text 17"/>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7</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1E8"/>
          </a:solidFill>
          <a:ln w="12700">
            <a:solidFill>
              <a:srgbClr val="F5F1E8"/>
            </a:solidFill>
            <a:prstDash val="solid"/>
          </a:ln>
        </p:spPr>
        <p:txBody>
          <a:bodyPr/>
          <a:lstStyle/>
          <a:p>
            <a:endParaRPr lang="en-TW"/>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Interaction &amp; User Experience</a:t>
            </a:r>
            <a:endParaRPr lang="en-US" sz="2800" dirty="0"/>
          </a:p>
        </p:txBody>
      </p:sp>
      <p:sp>
        <p:nvSpPr>
          <p:cNvPr id="4" name="Text 2"/>
          <p:cNvSpPr/>
          <p:nvPr/>
        </p:nvSpPr>
        <p:spPr>
          <a:xfrm>
            <a:off x="521208" y="777240"/>
            <a:ext cx="9875520" cy="256032"/>
          </a:xfrm>
          <a:prstGeom prst="rect">
            <a:avLst/>
          </a:prstGeom>
          <a:noFill/>
          <a:ln/>
        </p:spPr>
        <p:txBody>
          <a:bodyPr wrap="square" lIns="0" tIns="0" rIns="0" bIns="0" rtlCol="0" anchor="ctr"/>
          <a:lstStyle/>
          <a:p>
            <a:pPr marL="0" indent="0">
              <a:buNone/>
            </a:pPr>
            <a:r>
              <a:rPr lang="en-US" sz="1600" dirty="0">
                <a:solidFill>
                  <a:srgbClr val="647084"/>
                </a:solidFill>
              </a:rPr>
              <a:t>Filters support exploratory analysis across space, time, and categories.</a:t>
            </a:r>
            <a:endParaRPr lang="en-US" sz="1600" dirty="0"/>
          </a:p>
        </p:txBody>
      </p:sp>
      <p:sp>
        <p:nvSpPr>
          <p:cNvPr id="5" name="Shape 3"/>
          <p:cNvSpPr/>
          <p:nvPr/>
        </p:nvSpPr>
        <p:spPr>
          <a:xfrm>
            <a:off x="640080" y="1234440"/>
            <a:ext cx="3749040" cy="5074920"/>
          </a:xfrm>
          <a:prstGeom prst="roundRect">
            <a:avLst>
              <a:gd name="adj" fmla="val 2927"/>
            </a:avLst>
          </a:prstGeom>
          <a:solidFill>
            <a:srgbClr val="FFFFFF"/>
          </a:solidFill>
          <a:ln w="12700">
            <a:solidFill>
              <a:srgbClr val="D9D2C7">
                <a:alpha val="80000"/>
              </a:srgbClr>
            </a:solidFill>
            <a:prstDash val="solid"/>
          </a:ln>
        </p:spPr>
        <p:txBody>
          <a:bodyPr/>
          <a:lstStyle/>
          <a:p>
            <a:endParaRPr lang="en-TW"/>
          </a:p>
        </p:txBody>
      </p:sp>
      <p:pic>
        <p:nvPicPr>
          <p:cNvPr id="6" name="Image 0" descr="/mnt/data/full screen.png"/>
          <p:cNvPicPr>
            <a:picLocks noChangeAspect="1"/>
          </p:cNvPicPr>
          <p:nvPr/>
        </p:nvPicPr>
        <p:blipFill>
          <a:blip r:embed="rId3"/>
          <a:srcRect t="13000" r="24046" b="27000"/>
          <a:stretch/>
        </p:blipFill>
        <p:spPr>
          <a:xfrm>
            <a:off x="777240" y="1389888"/>
            <a:ext cx="3474720" cy="4754880"/>
          </a:xfrm>
          <a:prstGeom prst="rect">
            <a:avLst/>
          </a:prstGeom>
        </p:spPr>
      </p:pic>
      <p:sp>
        <p:nvSpPr>
          <p:cNvPr id="7" name="Text 4"/>
          <p:cNvSpPr/>
          <p:nvPr/>
        </p:nvSpPr>
        <p:spPr>
          <a:xfrm>
            <a:off x="4892040" y="1417320"/>
            <a:ext cx="4572000" cy="274320"/>
          </a:xfrm>
          <a:prstGeom prst="rect">
            <a:avLst/>
          </a:prstGeom>
          <a:noFill/>
          <a:ln/>
        </p:spPr>
        <p:txBody>
          <a:bodyPr wrap="square" lIns="0" tIns="0" rIns="0" bIns="0" rtlCol="0" anchor="ctr"/>
          <a:lstStyle/>
          <a:p>
            <a:pPr marL="0" indent="0">
              <a:buNone/>
            </a:pPr>
            <a:r>
              <a:rPr lang="en-US" sz="1800" b="1" dirty="0">
                <a:solidFill>
                  <a:srgbClr val="1E2633"/>
                </a:solidFill>
              </a:rPr>
              <a:t>Interactive Controls</a:t>
            </a:r>
            <a:endParaRPr lang="en-US" sz="1800" dirty="0"/>
          </a:p>
        </p:txBody>
      </p:sp>
      <p:sp>
        <p:nvSpPr>
          <p:cNvPr id="8" name="Shape 5"/>
          <p:cNvSpPr/>
          <p:nvPr/>
        </p:nvSpPr>
        <p:spPr>
          <a:xfrm>
            <a:off x="4983480" y="1947672"/>
            <a:ext cx="73152" cy="73152"/>
          </a:xfrm>
          <a:prstGeom prst="ellipse">
            <a:avLst/>
          </a:prstGeom>
          <a:solidFill>
            <a:srgbClr val="B95D49"/>
          </a:solidFill>
          <a:ln w="12700">
            <a:solidFill>
              <a:srgbClr val="B95D49"/>
            </a:solidFill>
            <a:prstDash val="solid"/>
          </a:ln>
        </p:spPr>
        <p:txBody>
          <a:bodyPr/>
          <a:lstStyle/>
          <a:p>
            <a:endParaRPr lang="en-TW"/>
          </a:p>
        </p:txBody>
      </p:sp>
      <p:sp>
        <p:nvSpPr>
          <p:cNvPr id="9" name="Text 6"/>
          <p:cNvSpPr/>
          <p:nvPr/>
        </p:nvSpPr>
        <p:spPr>
          <a:xfrm>
            <a:off x="5148072" y="1874520"/>
            <a:ext cx="50292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Date range filtering</a:t>
            </a:r>
            <a:endParaRPr lang="en-US" sz="1350" dirty="0"/>
          </a:p>
        </p:txBody>
      </p:sp>
      <p:sp>
        <p:nvSpPr>
          <p:cNvPr id="10" name="Shape 7"/>
          <p:cNvSpPr/>
          <p:nvPr/>
        </p:nvSpPr>
        <p:spPr>
          <a:xfrm>
            <a:off x="4983480" y="2386584"/>
            <a:ext cx="73152" cy="73152"/>
          </a:xfrm>
          <a:prstGeom prst="ellipse">
            <a:avLst/>
          </a:prstGeom>
          <a:solidFill>
            <a:srgbClr val="B95D49"/>
          </a:solidFill>
          <a:ln w="12700">
            <a:solidFill>
              <a:srgbClr val="B95D49"/>
            </a:solidFill>
            <a:prstDash val="solid"/>
          </a:ln>
        </p:spPr>
        <p:txBody>
          <a:bodyPr/>
          <a:lstStyle/>
          <a:p>
            <a:endParaRPr lang="en-TW"/>
          </a:p>
        </p:txBody>
      </p:sp>
      <p:sp>
        <p:nvSpPr>
          <p:cNvPr id="11" name="Text 8"/>
          <p:cNvSpPr/>
          <p:nvPr/>
        </p:nvSpPr>
        <p:spPr>
          <a:xfrm>
            <a:off x="5148072" y="2313432"/>
            <a:ext cx="50292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Room type and property type selection</a:t>
            </a:r>
            <a:endParaRPr lang="en-US" sz="1350" dirty="0"/>
          </a:p>
        </p:txBody>
      </p:sp>
      <p:sp>
        <p:nvSpPr>
          <p:cNvPr id="12" name="Shape 9"/>
          <p:cNvSpPr/>
          <p:nvPr/>
        </p:nvSpPr>
        <p:spPr>
          <a:xfrm>
            <a:off x="4983480" y="2825496"/>
            <a:ext cx="73152" cy="73152"/>
          </a:xfrm>
          <a:prstGeom prst="ellipse">
            <a:avLst/>
          </a:prstGeom>
          <a:solidFill>
            <a:srgbClr val="B95D49"/>
          </a:solidFill>
          <a:ln w="12700">
            <a:solidFill>
              <a:srgbClr val="B95D49"/>
            </a:solidFill>
            <a:prstDash val="solid"/>
          </a:ln>
        </p:spPr>
        <p:txBody>
          <a:bodyPr/>
          <a:lstStyle/>
          <a:p>
            <a:endParaRPr lang="en-TW"/>
          </a:p>
        </p:txBody>
      </p:sp>
      <p:sp>
        <p:nvSpPr>
          <p:cNvPr id="13" name="Text 10"/>
          <p:cNvSpPr/>
          <p:nvPr/>
        </p:nvSpPr>
        <p:spPr>
          <a:xfrm>
            <a:off x="5148072" y="2752344"/>
            <a:ext cx="50292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ZIP code filtering</a:t>
            </a:r>
            <a:endParaRPr lang="en-US" sz="1350" dirty="0"/>
          </a:p>
        </p:txBody>
      </p:sp>
      <p:sp>
        <p:nvSpPr>
          <p:cNvPr id="14" name="Shape 11"/>
          <p:cNvSpPr/>
          <p:nvPr/>
        </p:nvSpPr>
        <p:spPr>
          <a:xfrm>
            <a:off x="4983480" y="3264408"/>
            <a:ext cx="73152" cy="73152"/>
          </a:xfrm>
          <a:prstGeom prst="ellipse">
            <a:avLst/>
          </a:prstGeom>
          <a:solidFill>
            <a:srgbClr val="B95D49"/>
          </a:solidFill>
          <a:ln w="12700">
            <a:solidFill>
              <a:srgbClr val="B95D49"/>
            </a:solidFill>
            <a:prstDash val="solid"/>
          </a:ln>
        </p:spPr>
        <p:txBody>
          <a:bodyPr/>
          <a:lstStyle/>
          <a:p>
            <a:endParaRPr lang="en-TW"/>
          </a:p>
        </p:txBody>
      </p:sp>
      <p:sp>
        <p:nvSpPr>
          <p:cNvPr id="15" name="Text 12"/>
          <p:cNvSpPr/>
          <p:nvPr/>
        </p:nvSpPr>
        <p:spPr>
          <a:xfrm>
            <a:off x="5148072" y="3191256"/>
            <a:ext cx="50292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Metric switching</a:t>
            </a:r>
            <a:endParaRPr lang="en-US" sz="1350" dirty="0"/>
          </a:p>
        </p:txBody>
      </p:sp>
      <p:sp>
        <p:nvSpPr>
          <p:cNvPr id="16" name="Shape 13"/>
          <p:cNvSpPr/>
          <p:nvPr/>
        </p:nvSpPr>
        <p:spPr>
          <a:xfrm>
            <a:off x="4983480" y="3703320"/>
            <a:ext cx="73152" cy="73152"/>
          </a:xfrm>
          <a:prstGeom prst="ellipse">
            <a:avLst/>
          </a:prstGeom>
          <a:solidFill>
            <a:srgbClr val="B95D49"/>
          </a:solidFill>
          <a:ln w="12700">
            <a:solidFill>
              <a:srgbClr val="B95D49"/>
            </a:solidFill>
            <a:prstDash val="solid"/>
          </a:ln>
        </p:spPr>
        <p:txBody>
          <a:bodyPr/>
          <a:lstStyle/>
          <a:p>
            <a:endParaRPr lang="en-TW"/>
          </a:p>
        </p:txBody>
      </p:sp>
      <p:sp>
        <p:nvSpPr>
          <p:cNvPr id="17" name="Text 14"/>
          <p:cNvSpPr/>
          <p:nvPr/>
        </p:nvSpPr>
        <p:spPr>
          <a:xfrm>
            <a:off x="5148072" y="3630168"/>
            <a:ext cx="5029200" cy="256032"/>
          </a:xfrm>
          <a:prstGeom prst="rect">
            <a:avLst/>
          </a:prstGeom>
          <a:noFill/>
          <a:ln/>
        </p:spPr>
        <p:txBody>
          <a:bodyPr wrap="square" lIns="0" tIns="0" rIns="0" bIns="0" rtlCol="0" anchor="ctr">
            <a:normAutofit/>
          </a:bodyPr>
          <a:lstStyle/>
          <a:p>
            <a:pPr marL="0" indent="0">
              <a:buNone/>
            </a:pPr>
            <a:r>
              <a:rPr lang="en-US" sz="1350" dirty="0">
                <a:solidFill>
                  <a:srgbClr val="1E2633"/>
                </a:solidFill>
              </a:rPr>
              <a:t>Dynamic updates across charts</a:t>
            </a:r>
            <a:endParaRPr lang="en-US" sz="1350" dirty="0"/>
          </a:p>
        </p:txBody>
      </p:sp>
      <p:sp>
        <p:nvSpPr>
          <p:cNvPr id="18" name="Shape 15"/>
          <p:cNvSpPr/>
          <p:nvPr/>
        </p:nvSpPr>
        <p:spPr>
          <a:xfrm>
            <a:off x="4983480" y="4800600"/>
            <a:ext cx="5897880" cy="1097280"/>
          </a:xfrm>
          <a:prstGeom prst="roundRect">
            <a:avLst>
              <a:gd name="adj" fmla="val 6667"/>
            </a:avLst>
          </a:prstGeom>
          <a:solidFill>
            <a:srgbClr val="FBFAF6"/>
          </a:solidFill>
          <a:ln w="12700">
            <a:solidFill>
              <a:srgbClr val="D9D2C7">
                <a:alpha val="85000"/>
              </a:srgbClr>
            </a:solidFill>
            <a:prstDash val="solid"/>
          </a:ln>
        </p:spPr>
        <p:txBody>
          <a:bodyPr/>
          <a:lstStyle/>
          <a:p>
            <a:endParaRPr lang="en-TW"/>
          </a:p>
        </p:txBody>
      </p:sp>
      <p:sp>
        <p:nvSpPr>
          <p:cNvPr id="19" name="Shape 16"/>
          <p:cNvSpPr/>
          <p:nvPr/>
        </p:nvSpPr>
        <p:spPr>
          <a:xfrm>
            <a:off x="4983480" y="4800600"/>
            <a:ext cx="73152" cy="1097280"/>
          </a:xfrm>
          <a:prstGeom prst="rect">
            <a:avLst/>
          </a:prstGeom>
          <a:solidFill>
            <a:srgbClr val="355AD8"/>
          </a:solidFill>
          <a:ln w="12700">
            <a:solidFill>
              <a:srgbClr val="355AD8"/>
            </a:solidFill>
            <a:prstDash val="solid"/>
          </a:ln>
        </p:spPr>
        <p:txBody>
          <a:bodyPr/>
          <a:lstStyle/>
          <a:p>
            <a:endParaRPr lang="en-TW"/>
          </a:p>
        </p:txBody>
      </p:sp>
      <p:sp>
        <p:nvSpPr>
          <p:cNvPr id="20" name="Text 17"/>
          <p:cNvSpPr/>
          <p:nvPr/>
        </p:nvSpPr>
        <p:spPr>
          <a:xfrm>
            <a:off x="5184648" y="4946904"/>
            <a:ext cx="5568696" cy="228600"/>
          </a:xfrm>
          <a:prstGeom prst="rect">
            <a:avLst/>
          </a:prstGeom>
          <a:noFill/>
          <a:ln/>
        </p:spPr>
        <p:txBody>
          <a:bodyPr wrap="square" lIns="0" tIns="0" rIns="0" bIns="0" rtlCol="0" anchor="ctr"/>
          <a:lstStyle/>
          <a:p>
            <a:pPr marL="0" indent="0">
              <a:buNone/>
            </a:pPr>
            <a:r>
              <a:rPr lang="en-US" sz="1400" b="1" dirty="0">
                <a:solidFill>
                  <a:srgbClr val="1E2633"/>
                </a:solidFill>
              </a:rPr>
              <a:t>UX refinement</a:t>
            </a:r>
            <a:endParaRPr lang="en-US" sz="1400" dirty="0"/>
          </a:p>
        </p:txBody>
      </p:sp>
      <p:sp>
        <p:nvSpPr>
          <p:cNvPr id="21" name="Text 18"/>
          <p:cNvSpPr/>
          <p:nvPr/>
        </p:nvSpPr>
        <p:spPr>
          <a:xfrm>
            <a:off x="5184648" y="5285232"/>
            <a:ext cx="5568696" cy="47548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The final dashboard emphasizes a larger spatial view, clearer legend, multi-select filters, and a lighter basemap for readability.</a:t>
            </a:r>
            <a:endParaRPr lang="en-US" sz="1100" dirty="0"/>
          </a:p>
        </p:txBody>
      </p:sp>
      <p:sp>
        <p:nvSpPr>
          <p:cNvPr id="23" name="Text 19"/>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8</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320040"/>
            <a:ext cx="12191695" cy="6858000"/>
          </a:xfrm>
          <a:prstGeom prst="rect">
            <a:avLst/>
          </a:prstGeom>
          <a:solidFill>
            <a:srgbClr val="F5F1E8"/>
          </a:solidFill>
          <a:ln w="12700">
            <a:solidFill>
              <a:srgbClr val="F5F1E8"/>
            </a:solidFill>
            <a:prstDash val="solid"/>
          </a:ln>
        </p:spPr>
        <p:txBody>
          <a:bodyPr/>
          <a:lstStyle/>
          <a:p>
            <a:endParaRPr lang="en-TW"/>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Key Insights</a:t>
            </a:r>
            <a:endParaRPr lang="en-US" sz="2800" dirty="0"/>
          </a:p>
        </p:txBody>
      </p:sp>
      <p:sp>
        <p:nvSpPr>
          <p:cNvPr id="4" name="Text 2"/>
          <p:cNvSpPr/>
          <p:nvPr/>
        </p:nvSpPr>
        <p:spPr>
          <a:xfrm>
            <a:off x="521208" y="777240"/>
            <a:ext cx="9875520" cy="256032"/>
          </a:xfrm>
          <a:prstGeom prst="rect">
            <a:avLst/>
          </a:prstGeom>
          <a:noFill/>
          <a:ln/>
        </p:spPr>
        <p:txBody>
          <a:bodyPr wrap="square" lIns="0" tIns="0" rIns="0" bIns="0" rtlCol="0" anchor="ctr"/>
          <a:lstStyle/>
          <a:p>
            <a:pPr marL="0" indent="0">
              <a:buNone/>
            </a:pPr>
            <a:r>
              <a:rPr lang="en-US" sz="1600" dirty="0">
                <a:solidFill>
                  <a:srgbClr val="647084"/>
                </a:solidFill>
              </a:rPr>
              <a:t>The coordinated views turn raw records into interpretable market patterns.</a:t>
            </a:r>
            <a:endParaRPr lang="en-US" sz="1600" dirty="0"/>
          </a:p>
        </p:txBody>
      </p:sp>
      <p:sp>
        <p:nvSpPr>
          <p:cNvPr id="5" name="Shape 3"/>
          <p:cNvSpPr/>
          <p:nvPr/>
        </p:nvSpPr>
        <p:spPr>
          <a:xfrm>
            <a:off x="731520" y="1417320"/>
            <a:ext cx="3429000" cy="1508760"/>
          </a:xfrm>
          <a:prstGeom prst="roundRect">
            <a:avLst>
              <a:gd name="adj" fmla="val 4848"/>
            </a:avLst>
          </a:prstGeom>
          <a:solidFill>
            <a:srgbClr val="FBFAF6"/>
          </a:solidFill>
          <a:ln w="12700">
            <a:solidFill>
              <a:srgbClr val="D9D2C7">
                <a:alpha val="85000"/>
              </a:srgbClr>
            </a:solidFill>
            <a:prstDash val="solid"/>
          </a:ln>
        </p:spPr>
        <p:txBody>
          <a:bodyPr/>
          <a:lstStyle/>
          <a:p>
            <a:endParaRPr lang="en-TW"/>
          </a:p>
        </p:txBody>
      </p:sp>
      <p:sp>
        <p:nvSpPr>
          <p:cNvPr id="6" name="Shape 4"/>
          <p:cNvSpPr/>
          <p:nvPr/>
        </p:nvSpPr>
        <p:spPr>
          <a:xfrm>
            <a:off x="731520" y="1417320"/>
            <a:ext cx="73152" cy="1508760"/>
          </a:xfrm>
          <a:prstGeom prst="rect">
            <a:avLst/>
          </a:prstGeom>
          <a:solidFill>
            <a:srgbClr val="B95D49"/>
          </a:solidFill>
          <a:ln w="12700">
            <a:solidFill>
              <a:srgbClr val="B95D49"/>
            </a:solidFill>
            <a:prstDash val="solid"/>
          </a:ln>
        </p:spPr>
        <p:txBody>
          <a:bodyPr/>
          <a:lstStyle/>
          <a:p>
            <a:endParaRPr lang="en-TW"/>
          </a:p>
        </p:txBody>
      </p:sp>
      <p:sp>
        <p:nvSpPr>
          <p:cNvPr id="7" name="Text 5"/>
          <p:cNvSpPr/>
          <p:nvPr/>
        </p:nvSpPr>
        <p:spPr>
          <a:xfrm>
            <a:off x="932688" y="1563624"/>
            <a:ext cx="3099816" cy="228600"/>
          </a:xfrm>
          <a:prstGeom prst="rect">
            <a:avLst/>
          </a:prstGeom>
          <a:noFill/>
          <a:ln/>
        </p:spPr>
        <p:txBody>
          <a:bodyPr wrap="square" lIns="0" tIns="0" rIns="0" bIns="0" rtlCol="0" anchor="ctr"/>
          <a:lstStyle/>
          <a:p>
            <a:pPr marL="0" indent="0">
              <a:buNone/>
            </a:pPr>
            <a:r>
              <a:rPr lang="en-US" sz="1400" b="1" dirty="0">
                <a:solidFill>
                  <a:srgbClr val="1E2633"/>
                </a:solidFill>
              </a:rPr>
              <a:t>1. Spatial concentration</a:t>
            </a:r>
            <a:endParaRPr lang="en-US" sz="1400" dirty="0"/>
          </a:p>
        </p:txBody>
      </p:sp>
      <p:sp>
        <p:nvSpPr>
          <p:cNvPr id="8" name="Text 6"/>
          <p:cNvSpPr/>
          <p:nvPr/>
        </p:nvSpPr>
        <p:spPr>
          <a:xfrm>
            <a:off x="932688" y="1901952"/>
            <a:ext cx="3099816" cy="88696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Airbnb revenue is concentrated in a limited subset of ZIP-code areas rather than evenly distributed across NYC.</a:t>
            </a:r>
            <a:endParaRPr lang="en-US" sz="1100" dirty="0"/>
          </a:p>
        </p:txBody>
      </p:sp>
      <p:sp>
        <p:nvSpPr>
          <p:cNvPr id="9" name="Shape 7"/>
          <p:cNvSpPr/>
          <p:nvPr/>
        </p:nvSpPr>
        <p:spPr>
          <a:xfrm>
            <a:off x="4389120" y="1417320"/>
            <a:ext cx="3429000" cy="1508760"/>
          </a:xfrm>
          <a:prstGeom prst="roundRect">
            <a:avLst>
              <a:gd name="adj" fmla="val 4848"/>
            </a:avLst>
          </a:prstGeom>
          <a:solidFill>
            <a:srgbClr val="FBFAF6"/>
          </a:solidFill>
          <a:ln w="12700">
            <a:solidFill>
              <a:srgbClr val="D9D2C7">
                <a:alpha val="85000"/>
              </a:srgbClr>
            </a:solidFill>
            <a:prstDash val="solid"/>
          </a:ln>
        </p:spPr>
        <p:txBody>
          <a:bodyPr/>
          <a:lstStyle/>
          <a:p>
            <a:endParaRPr lang="en-TW"/>
          </a:p>
        </p:txBody>
      </p:sp>
      <p:sp>
        <p:nvSpPr>
          <p:cNvPr id="10" name="Shape 8"/>
          <p:cNvSpPr/>
          <p:nvPr/>
        </p:nvSpPr>
        <p:spPr>
          <a:xfrm>
            <a:off x="4389120" y="1417320"/>
            <a:ext cx="73152" cy="1508760"/>
          </a:xfrm>
          <a:prstGeom prst="rect">
            <a:avLst/>
          </a:prstGeom>
          <a:solidFill>
            <a:srgbClr val="1F5361"/>
          </a:solidFill>
          <a:ln w="12700">
            <a:solidFill>
              <a:srgbClr val="1F5361"/>
            </a:solidFill>
            <a:prstDash val="solid"/>
          </a:ln>
        </p:spPr>
        <p:txBody>
          <a:bodyPr/>
          <a:lstStyle/>
          <a:p>
            <a:endParaRPr lang="en-TW"/>
          </a:p>
        </p:txBody>
      </p:sp>
      <p:sp>
        <p:nvSpPr>
          <p:cNvPr id="11" name="Text 9"/>
          <p:cNvSpPr/>
          <p:nvPr/>
        </p:nvSpPr>
        <p:spPr>
          <a:xfrm>
            <a:off x="4590288" y="1563624"/>
            <a:ext cx="3099816" cy="228600"/>
          </a:xfrm>
          <a:prstGeom prst="rect">
            <a:avLst/>
          </a:prstGeom>
          <a:noFill/>
          <a:ln/>
        </p:spPr>
        <p:txBody>
          <a:bodyPr wrap="square" lIns="0" tIns="0" rIns="0" bIns="0" rtlCol="0" anchor="ctr"/>
          <a:lstStyle/>
          <a:p>
            <a:pPr marL="0" indent="0">
              <a:buNone/>
            </a:pPr>
            <a:r>
              <a:rPr lang="en-US" sz="1400" b="1" dirty="0">
                <a:solidFill>
                  <a:srgbClr val="1E2633"/>
                </a:solidFill>
              </a:rPr>
              <a:t>2. Temporal variation</a:t>
            </a:r>
            <a:endParaRPr lang="en-US" sz="1400" dirty="0"/>
          </a:p>
        </p:txBody>
      </p:sp>
      <p:sp>
        <p:nvSpPr>
          <p:cNvPr id="12" name="Text 10"/>
          <p:cNvSpPr/>
          <p:nvPr/>
        </p:nvSpPr>
        <p:spPr>
          <a:xfrm>
            <a:off x="4590288" y="1901952"/>
            <a:ext cx="3099816" cy="88696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Market performance fluctuates significantly over time, with a strong peak around 2022 and lower levels afterward.</a:t>
            </a:r>
            <a:endParaRPr lang="en-US" sz="1100" dirty="0"/>
          </a:p>
        </p:txBody>
      </p:sp>
      <p:sp>
        <p:nvSpPr>
          <p:cNvPr id="13" name="Shape 11"/>
          <p:cNvSpPr/>
          <p:nvPr/>
        </p:nvSpPr>
        <p:spPr>
          <a:xfrm>
            <a:off x="8046720" y="1417320"/>
            <a:ext cx="3429000" cy="1508760"/>
          </a:xfrm>
          <a:prstGeom prst="roundRect">
            <a:avLst>
              <a:gd name="adj" fmla="val 4848"/>
            </a:avLst>
          </a:prstGeom>
          <a:solidFill>
            <a:srgbClr val="FBFAF6"/>
          </a:solidFill>
          <a:ln w="12700">
            <a:solidFill>
              <a:srgbClr val="D9D2C7">
                <a:alpha val="85000"/>
              </a:srgbClr>
            </a:solidFill>
            <a:prstDash val="solid"/>
          </a:ln>
        </p:spPr>
        <p:txBody>
          <a:bodyPr/>
          <a:lstStyle/>
          <a:p>
            <a:endParaRPr lang="en-TW"/>
          </a:p>
        </p:txBody>
      </p:sp>
      <p:sp>
        <p:nvSpPr>
          <p:cNvPr id="14" name="Shape 12"/>
          <p:cNvSpPr/>
          <p:nvPr/>
        </p:nvSpPr>
        <p:spPr>
          <a:xfrm>
            <a:off x="8046720" y="1417320"/>
            <a:ext cx="73152" cy="1508760"/>
          </a:xfrm>
          <a:prstGeom prst="rect">
            <a:avLst/>
          </a:prstGeom>
          <a:solidFill>
            <a:srgbClr val="E5A83A"/>
          </a:solidFill>
          <a:ln w="12700">
            <a:solidFill>
              <a:srgbClr val="E5A83A"/>
            </a:solidFill>
            <a:prstDash val="solid"/>
          </a:ln>
        </p:spPr>
        <p:txBody>
          <a:bodyPr/>
          <a:lstStyle/>
          <a:p>
            <a:endParaRPr lang="en-TW"/>
          </a:p>
        </p:txBody>
      </p:sp>
      <p:sp>
        <p:nvSpPr>
          <p:cNvPr id="15" name="Text 13"/>
          <p:cNvSpPr/>
          <p:nvPr/>
        </p:nvSpPr>
        <p:spPr>
          <a:xfrm>
            <a:off x="8247888" y="1563624"/>
            <a:ext cx="3099816" cy="228600"/>
          </a:xfrm>
          <a:prstGeom prst="rect">
            <a:avLst/>
          </a:prstGeom>
          <a:noFill/>
          <a:ln/>
        </p:spPr>
        <p:txBody>
          <a:bodyPr wrap="square" lIns="0" tIns="0" rIns="0" bIns="0" rtlCol="0" anchor="ctr"/>
          <a:lstStyle/>
          <a:p>
            <a:pPr marL="0" indent="0">
              <a:buNone/>
            </a:pPr>
            <a:r>
              <a:rPr lang="en-US" sz="1400" b="1" dirty="0">
                <a:solidFill>
                  <a:srgbClr val="1E2633"/>
                </a:solidFill>
              </a:rPr>
              <a:t>3. Category differences</a:t>
            </a:r>
            <a:endParaRPr lang="en-US" sz="1400" dirty="0"/>
          </a:p>
        </p:txBody>
      </p:sp>
      <p:sp>
        <p:nvSpPr>
          <p:cNvPr id="16" name="Text 14"/>
          <p:cNvSpPr/>
          <p:nvPr/>
        </p:nvSpPr>
        <p:spPr>
          <a:xfrm>
            <a:off x="8247888" y="1901952"/>
            <a:ext cx="3099816" cy="886968"/>
          </a:xfrm>
          <a:prstGeom prst="rect">
            <a:avLst/>
          </a:prstGeom>
          <a:noFill/>
          <a:ln/>
        </p:spPr>
        <p:txBody>
          <a:bodyPr wrap="square" lIns="254" tIns="254" rIns="254" bIns="254" rtlCol="0" anchor="ctr">
            <a:normAutofit/>
          </a:bodyPr>
          <a:lstStyle/>
          <a:p>
            <a:pPr marL="0" indent="0">
              <a:buNone/>
            </a:pPr>
            <a:r>
              <a:rPr lang="en-US" sz="1100" dirty="0">
                <a:solidFill>
                  <a:srgbClr val="647084"/>
                </a:solidFill>
              </a:rPr>
              <a:t>Room type strongly affects average revenue, with hotel rooms and entire homes outperforming other categories.</a:t>
            </a:r>
            <a:endParaRPr lang="en-US" sz="1100" dirty="0"/>
          </a:p>
        </p:txBody>
      </p:sp>
      <p:sp>
        <p:nvSpPr>
          <p:cNvPr id="17" name="Shape 15"/>
          <p:cNvSpPr/>
          <p:nvPr/>
        </p:nvSpPr>
        <p:spPr>
          <a:xfrm>
            <a:off x="1280160" y="3703320"/>
            <a:ext cx="9601200" cy="1371600"/>
          </a:xfrm>
          <a:prstGeom prst="roundRect">
            <a:avLst>
              <a:gd name="adj" fmla="val 8000"/>
            </a:avLst>
          </a:prstGeom>
          <a:solidFill>
            <a:srgbClr val="FFFFFF"/>
          </a:solidFill>
          <a:ln w="12700">
            <a:solidFill>
              <a:srgbClr val="D9D2C7">
                <a:alpha val="80000"/>
              </a:srgbClr>
            </a:solidFill>
            <a:prstDash val="solid"/>
          </a:ln>
        </p:spPr>
        <p:txBody>
          <a:bodyPr/>
          <a:lstStyle/>
          <a:p>
            <a:endParaRPr lang="en-TW"/>
          </a:p>
        </p:txBody>
      </p:sp>
      <p:sp>
        <p:nvSpPr>
          <p:cNvPr id="18" name="Text 16"/>
          <p:cNvSpPr/>
          <p:nvPr/>
        </p:nvSpPr>
        <p:spPr>
          <a:xfrm>
            <a:off x="1572768" y="3950208"/>
            <a:ext cx="1371600" cy="228600"/>
          </a:xfrm>
          <a:prstGeom prst="rect">
            <a:avLst/>
          </a:prstGeom>
          <a:noFill/>
          <a:ln/>
        </p:spPr>
        <p:txBody>
          <a:bodyPr wrap="square" lIns="0" tIns="0" rIns="0" bIns="0" rtlCol="0" anchor="ctr"/>
          <a:lstStyle/>
          <a:p>
            <a:pPr marL="0" indent="0">
              <a:buNone/>
            </a:pPr>
            <a:r>
              <a:rPr lang="en-US" sz="1600" b="1" dirty="0">
                <a:solidFill>
                  <a:srgbClr val="647084"/>
                </a:solidFill>
              </a:rPr>
              <a:t>Takeaway</a:t>
            </a:r>
            <a:endParaRPr lang="en-US" sz="1600" dirty="0"/>
          </a:p>
        </p:txBody>
      </p:sp>
      <p:sp>
        <p:nvSpPr>
          <p:cNvPr id="19" name="Text 17"/>
          <p:cNvSpPr/>
          <p:nvPr/>
        </p:nvSpPr>
        <p:spPr>
          <a:xfrm>
            <a:off x="1572768" y="4343400"/>
            <a:ext cx="8961120" cy="320040"/>
          </a:xfrm>
          <a:prstGeom prst="rect">
            <a:avLst/>
          </a:prstGeom>
          <a:noFill/>
          <a:ln/>
        </p:spPr>
        <p:txBody>
          <a:bodyPr wrap="square" lIns="0" tIns="0" rIns="0" bIns="0" rtlCol="0" anchor="ctr">
            <a:normAutofit fontScale="70000" lnSpcReduction="20000"/>
          </a:bodyPr>
          <a:lstStyle/>
          <a:p>
            <a:pPr marL="0" indent="0">
              <a:buNone/>
            </a:pPr>
            <a:r>
              <a:rPr lang="en-US" sz="1700" b="1" dirty="0">
                <a:solidFill>
                  <a:srgbClr val="1E2633"/>
                </a:solidFill>
              </a:rPr>
              <a:t>Airbnb performance should be interpreted through location, time, and listing category together — not through a single overall average.</a:t>
            </a:r>
            <a:endParaRPr lang="en-US" sz="1700" dirty="0"/>
          </a:p>
        </p:txBody>
      </p:sp>
      <p:sp>
        <p:nvSpPr>
          <p:cNvPr id="21" name="Text 18"/>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9</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320040"/>
            <a:ext cx="12191695" cy="6858000"/>
          </a:xfrm>
          <a:prstGeom prst="rect">
            <a:avLst/>
          </a:prstGeom>
          <a:solidFill>
            <a:srgbClr val="F5F1E8"/>
          </a:solidFill>
          <a:ln w="12700">
            <a:solidFill>
              <a:srgbClr val="F5F1E8"/>
            </a:solidFill>
            <a:prstDash val="solid"/>
          </a:ln>
        </p:spPr>
        <p:txBody>
          <a:bodyPr/>
          <a:lstStyle/>
          <a:p>
            <a:endParaRPr lang="en-TW"/>
          </a:p>
        </p:txBody>
      </p:sp>
      <p:sp>
        <p:nvSpPr>
          <p:cNvPr id="3" name="Text 1"/>
          <p:cNvSpPr/>
          <p:nvPr/>
        </p:nvSpPr>
        <p:spPr>
          <a:xfrm>
            <a:off x="502920" y="320040"/>
            <a:ext cx="9875520" cy="411480"/>
          </a:xfrm>
          <a:prstGeom prst="rect">
            <a:avLst/>
          </a:prstGeom>
          <a:noFill/>
          <a:ln/>
        </p:spPr>
        <p:txBody>
          <a:bodyPr wrap="square" lIns="0" tIns="0" rIns="0" bIns="0" rtlCol="0" anchor="ctr"/>
          <a:lstStyle/>
          <a:p>
            <a:pPr marL="0" indent="0">
              <a:buNone/>
            </a:pPr>
            <a:r>
              <a:rPr lang="en-US" sz="2800" b="1" dirty="0">
                <a:solidFill>
                  <a:srgbClr val="1E2633"/>
                </a:solidFill>
                <a:latin typeface="Aptos Display" pitchFamily="34" charset="0"/>
                <a:ea typeface="Aptos Display" pitchFamily="34" charset="-122"/>
                <a:cs typeface="Aptos Display" pitchFamily="34" charset="-120"/>
              </a:rPr>
              <a:t>Contributions &amp; Live Demo</a:t>
            </a:r>
            <a:endParaRPr lang="en-US" sz="2800" dirty="0"/>
          </a:p>
        </p:txBody>
      </p:sp>
      <p:sp>
        <p:nvSpPr>
          <p:cNvPr id="4" name="Text 2"/>
          <p:cNvSpPr/>
          <p:nvPr/>
        </p:nvSpPr>
        <p:spPr>
          <a:xfrm>
            <a:off x="521208" y="777240"/>
            <a:ext cx="9875520" cy="256032"/>
          </a:xfrm>
          <a:prstGeom prst="rect">
            <a:avLst/>
          </a:prstGeom>
          <a:noFill/>
          <a:ln/>
        </p:spPr>
        <p:txBody>
          <a:bodyPr wrap="square" lIns="0" tIns="0" rIns="0" bIns="0" rtlCol="0" anchor="ctr"/>
          <a:lstStyle/>
          <a:p>
            <a:pPr marL="0" indent="0">
              <a:buNone/>
            </a:pPr>
            <a:r>
              <a:rPr lang="en-US" sz="1600" dirty="0">
                <a:solidFill>
                  <a:srgbClr val="647084"/>
                </a:solidFill>
              </a:rPr>
              <a:t>A working visual analytics system for exploring NYC Airbnb performance.</a:t>
            </a:r>
            <a:endParaRPr lang="en-US" sz="1600" dirty="0"/>
          </a:p>
        </p:txBody>
      </p:sp>
      <p:sp>
        <p:nvSpPr>
          <p:cNvPr id="5" name="Text 3"/>
          <p:cNvSpPr/>
          <p:nvPr/>
        </p:nvSpPr>
        <p:spPr>
          <a:xfrm>
            <a:off x="772668" y="1901952"/>
            <a:ext cx="3657600" cy="274320"/>
          </a:xfrm>
          <a:prstGeom prst="rect">
            <a:avLst/>
          </a:prstGeom>
          <a:noFill/>
          <a:ln/>
        </p:spPr>
        <p:txBody>
          <a:bodyPr wrap="square" lIns="0" tIns="0" rIns="0" bIns="0" rtlCol="0" anchor="ctr"/>
          <a:lstStyle/>
          <a:p>
            <a:pPr marL="0" indent="0">
              <a:buNone/>
            </a:pPr>
            <a:r>
              <a:rPr lang="en-US" sz="2000" b="1" dirty="0">
                <a:solidFill>
                  <a:srgbClr val="1E2633"/>
                </a:solidFill>
              </a:rPr>
              <a:t>Core Contributions</a:t>
            </a:r>
            <a:endParaRPr lang="en-US" sz="2000" dirty="0"/>
          </a:p>
        </p:txBody>
      </p:sp>
      <p:sp>
        <p:nvSpPr>
          <p:cNvPr id="6" name="Shape 4"/>
          <p:cNvSpPr/>
          <p:nvPr/>
        </p:nvSpPr>
        <p:spPr>
          <a:xfrm>
            <a:off x="864108" y="2459736"/>
            <a:ext cx="73152" cy="73152"/>
          </a:xfrm>
          <a:prstGeom prst="ellipse">
            <a:avLst/>
          </a:prstGeom>
          <a:solidFill>
            <a:srgbClr val="B95D49"/>
          </a:solidFill>
          <a:ln w="12700">
            <a:solidFill>
              <a:srgbClr val="B95D49"/>
            </a:solidFill>
            <a:prstDash val="solid"/>
          </a:ln>
        </p:spPr>
        <p:txBody>
          <a:bodyPr/>
          <a:lstStyle/>
          <a:p>
            <a:endParaRPr lang="en-TW"/>
          </a:p>
        </p:txBody>
      </p:sp>
      <p:sp>
        <p:nvSpPr>
          <p:cNvPr id="7" name="Text 5"/>
          <p:cNvSpPr/>
          <p:nvPr/>
        </p:nvSpPr>
        <p:spPr>
          <a:xfrm>
            <a:off x="1028700" y="2386584"/>
            <a:ext cx="4800600" cy="256032"/>
          </a:xfrm>
          <a:prstGeom prst="rect">
            <a:avLst/>
          </a:prstGeom>
          <a:noFill/>
          <a:ln/>
        </p:spPr>
        <p:txBody>
          <a:bodyPr wrap="square" lIns="0" tIns="0" rIns="0" bIns="0" rtlCol="0" anchor="ctr">
            <a:normAutofit/>
          </a:bodyPr>
          <a:lstStyle/>
          <a:p>
            <a:pPr marL="0" indent="0">
              <a:buNone/>
            </a:pPr>
            <a:r>
              <a:rPr lang="en-US" sz="1400" dirty="0">
                <a:solidFill>
                  <a:srgbClr val="1E2633"/>
                </a:solidFill>
              </a:rPr>
              <a:t>Cleaned and processed multi-year dataset workflow</a:t>
            </a:r>
            <a:endParaRPr lang="en-US" sz="1400" dirty="0"/>
          </a:p>
        </p:txBody>
      </p:sp>
      <p:sp>
        <p:nvSpPr>
          <p:cNvPr id="8" name="Shape 6"/>
          <p:cNvSpPr/>
          <p:nvPr/>
        </p:nvSpPr>
        <p:spPr>
          <a:xfrm>
            <a:off x="864108" y="2962656"/>
            <a:ext cx="73152" cy="73152"/>
          </a:xfrm>
          <a:prstGeom prst="ellipse">
            <a:avLst/>
          </a:prstGeom>
          <a:solidFill>
            <a:srgbClr val="B95D49"/>
          </a:solidFill>
          <a:ln w="12700">
            <a:solidFill>
              <a:srgbClr val="B95D49"/>
            </a:solidFill>
            <a:prstDash val="solid"/>
          </a:ln>
        </p:spPr>
        <p:txBody>
          <a:bodyPr/>
          <a:lstStyle/>
          <a:p>
            <a:endParaRPr lang="en-TW"/>
          </a:p>
        </p:txBody>
      </p:sp>
      <p:sp>
        <p:nvSpPr>
          <p:cNvPr id="9" name="Text 7"/>
          <p:cNvSpPr/>
          <p:nvPr/>
        </p:nvSpPr>
        <p:spPr>
          <a:xfrm>
            <a:off x="1028700" y="2889504"/>
            <a:ext cx="4800600" cy="256032"/>
          </a:xfrm>
          <a:prstGeom prst="rect">
            <a:avLst/>
          </a:prstGeom>
          <a:noFill/>
          <a:ln/>
        </p:spPr>
        <p:txBody>
          <a:bodyPr wrap="square" lIns="0" tIns="0" rIns="0" bIns="0" rtlCol="0" anchor="ctr">
            <a:normAutofit/>
          </a:bodyPr>
          <a:lstStyle/>
          <a:p>
            <a:pPr marL="0" indent="0">
              <a:buNone/>
            </a:pPr>
            <a:r>
              <a:rPr lang="en-US" sz="1400" dirty="0">
                <a:solidFill>
                  <a:srgbClr val="1E2633"/>
                </a:solidFill>
              </a:rPr>
              <a:t>Interactive multi-view dashboard</a:t>
            </a:r>
            <a:endParaRPr lang="en-US" sz="1400" dirty="0"/>
          </a:p>
        </p:txBody>
      </p:sp>
      <p:sp>
        <p:nvSpPr>
          <p:cNvPr id="10" name="Shape 8"/>
          <p:cNvSpPr/>
          <p:nvPr/>
        </p:nvSpPr>
        <p:spPr>
          <a:xfrm>
            <a:off x="864108" y="3465576"/>
            <a:ext cx="73152" cy="73152"/>
          </a:xfrm>
          <a:prstGeom prst="ellipse">
            <a:avLst/>
          </a:prstGeom>
          <a:solidFill>
            <a:srgbClr val="B95D49"/>
          </a:solidFill>
          <a:ln w="12700">
            <a:solidFill>
              <a:srgbClr val="B95D49"/>
            </a:solidFill>
            <a:prstDash val="solid"/>
          </a:ln>
        </p:spPr>
        <p:txBody>
          <a:bodyPr/>
          <a:lstStyle/>
          <a:p>
            <a:endParaRPr lang="en-TW"/>
          </a:p>
        </p:txBody>
      </p:sp>
      <p:sp>
        <p:nvSpPr>
          <p:cNvPr id="11" name="Text 9"/>
          <p:cNvSpPr/>
          <p:nvPr/>
        </p:nvSpPr>
        <p:spPr>
          <a:xfrm>
            <a:off x="1028700" y="3392424"/>
            <a:ext cx="4800600" cy="256032"/>
          </a:xfrm>
          <a:prstGeom prst="rect">
            <a:avLst/>
          </a:prstGeom>
          <a:noFill/>
          <a:ln/>
        </p:spPr>
        <p:txBody>
          <a:bodyPr wrap="square" lIns="0" tIns="0" rIns="0" bIns="0" rtlCol="0" anchor="ctr">
            <a:normAutofit/>
          </a:bodyPr>
          <a:lstStyle/>
          <a:p>
            <a:pPr marL="0" indent="0">
              <a:buNone/>
            </a:pPr>
            <a:r>
              <a:rPr lang="en-US" sz="1400" dirty="0">
                <a:solidFill>
                  <a:srgbClr val="1E2633"/>
                </a:solidFill>
              </a:rPr>
              <a:t>Spatial, temporal, and category-level insight generation</a:t>
            </a:r>
            <a:endParaRPr lang="en-US" sz="1400" dirty="0"/>
          </a:p>
        </p:txBody>
      </p:sp>
      <p:sp>
        <p:nvSpPr>
          <p:cNvPr id="12" name="Shape 10"/>
          <p:cNvSpPr/>
          <p:nvPr/>
        </p:nvSpPr>
        <p:spPr>
          <a:xfrm>
            <a:off x="864108" y="3968496"/>
            <a:ext cx="73152" cy="73152"/>
          </a:xfrm>
          <a:prstGeom prst="ellipse">
            <a:avLst/>
          </a:prstGeom>
          <a:solidFill>
            <a:srgbClr val="B95D49"/>
          </a:solidFill>
          <a:ln w="12700">
            <a:solidFill>
              <a:srgbClr val="B95D49"/>
            </a:solidFill>
            <a:prstDash val="solid"/>
          </a:ln>
        </p:spPr>
        <p:txBody>
          <a:bodyPr/>
          <a:lstStyle/>
          <a:p>
            <a:endParaRPr lang="en-TW"/>
          </a:p>
        </p:txBody>
      </p:sp>
      <p:sp>
        <p:nvSpPr>
          <p:cNvPr id="13" name="Text 11"/>
          <p:cNvSpPr/>
          <p:nvPr/>
        </p:nvSpPr>
        <p:spPr>
          <a:xfrm>
            <a:off x="1028700" y="3895344"/>
            <a:ext cx="4800600" cy="256032"/>
          </a:xfrm>
          <a:prstGeom prst="rect">
            <a:avLst/>
          </a:prstGeom>
          <a:noFill/>
          <a:ln/>
        </p:spPr>
        <p:txBody>
          <a:bodyPr wrap="square" lIns="0" tIns="0" rIns="0" bIns="0" rtlCol="0" anchor="ctr">
            <a:normAutofit/>
          </a:bodyPr>
          <a:lstStyle/>
          <a:p>
            <a:pPr marL="0" indent="0">
              <a:buNone/>
            </a:pPr>
            <a:r>
              <a:rPr lang="en-US" sz="1400" dirty="0">
                <a:solidFill>
                  <a:srgbClr val="1E2633"/>
                </a:solidFill>
              </a:rPr>
              <a:t>Deployed system for browser-based access</a:t>
            </a:r>
            <a:endParaRPr lang="en-US" sz="1400" dirty="0"/>
          </a:p>
        </p:txBody>
      </p:sp>
      <p:sp>
        <p:nvSpPr>
          <p:cNvPr id="14" name="Shape 12"/>
          <p:cNvSpPr/>
          <p:nvPr/>
        </p:nvSpPr>
        <p:spPr>
          <a:xfrm>
            <a:off x="6573012" y="1961388"/>
            <a:ext cx="4754880" cy="1143000"/>
          </a:xfrm>
          <a:prstGeom prst="roundRect">
            <a:avLst>
              <a:gd name="adj" fmla="val 6400"/>
            </a:avLst>
          </a:prstGeom>
          <a:solidFill>
            <a:srgbClr val="FBFAF6"/>
          </a:solidFill>
          <a:ln w="12700">
            <a:solidFill>
              <a:srgbClr val="D9D2C7">
                <a:alpha val="85000"/>
              </a:srgbClr>
            </a:solidFill>
            <a:prstDash val="solid"/>
          </a:ln>
        </p:spPr>
        <p:txBody>
          <a:bodyPr/>
          <a:lstStyle/>
          <a:p>
            <a:endParaRPr lang="en-TW"/>
          </a:p>
        </p:txBody>
      </p:sp>
      <p:sp>
        <p:nvSpPr>
          <p:cNvPr id="15" name="Shape 13"/>
          <p:cNvSpPr/>
          <p:nvPr/>
        </p:nvSpPr>
        <p:spPr>
          <a:xfrm>
            <a:off x="6573012" y="1961388"/>
            <a:ext cx="73152" cy="1143000"/>
          </a:xfrm>
          <a:prstGeom prst="rect">
            <a:avLst/>
          </a:prstGeom>
          <a:solidFill>
            <a:srgbClr val="355AD8"/>
          </a:solidFill>
          <a:ln w="12700">
            <a:solidFill>
              <a:srgbClr val="355AD8"/>
            </a:solidFill>
            <a:prstDash val="solid"/>
          </a:ln>
        </p:spPr>
        <p:txBody>
          <a:bodyPr/>
          <a:lstStyle/>
          <a:p>
            <a:endParaRPr lang="en-TW"/>
          </a:p>
        </p:txBody>
      </p:sp>
      <p:sp>
        <p:nvSpPr>
          <p:cNvPr id="16" name="Text 14"/>
          <p:cNvSpPr/>
          <p:nvPr/>
        </p:nvSpPr>
        <p:spPr>
          <a:xfrm>
            <a:off x="6774180" y="2107692"/>
            <a:ext cx="4425696" cy="228600"/>
          </a:xfrm>
          <a:prstGeom prst="rect">
            <a:avLst/>
          </a:prstGeom>
          <a:noFill/>
          <a:ln/>
        </p:spPr>
        <p:txBody>
          <a:bodyPr wrap="square" lIns="0" tIns="0" rIns="0" bIns="0" rtlCol="0" anchor="ctr"/>
          <a:lstStyle/>
          <a:p>
            <a:pPr marL="0" indent="0">
              <a:buNone/>
            </a:pPr>
            <a:r>
              <a:rPr lang="en-US" sz="1400" b="1" dirty="0">
                <a:solidFill>
                  <a:srgbClr val="1E2633"/>
                </a:solidFill>
              </a:rPr>
              <a:t>Demo Flow</a:t>
            </a:r>
            <a:endParaRPr lang="en-US" sz="1400" dirty="0"/>
          </a:p>
        </p:txBody>
      </p:sp>
      <p:sp>
        <p:nvSpPr>
          <p:cNvPr id="17" name="Text 15"/>
          <p:cNvSpPr/>
          <p:nvPr/>
        </p:nvSpPr>
        <p:spPr>
          <a:xfrm>
            <a:off x="6774180" y="2446020"/>
            <a:ext cx="4425696" cy="521208"/>
          </a:xfrm>
          <a:prstGeom prst="rect">
            <a:avLst/>
          </a:prstGeom>
          <a:noFill/>
          <a:ln/>
        </p:spPr>
        <p:txBody>
          <a:bodyPr wrap="square" lIns="254" tIns="254" rIns="254" bIns="254" rtlCol="0" anchor="ctr">
            <a:normAutofit/>
          </a:bodyPr>
          <a:lstStyle/>
          <a:p>
            <a:pPr marL="0" indent="0">
              <a:buNone/>
            </a:pPr>
            <a:r>
              <a:rPr lang="en-US" sz="1000" dirty="0">
                <a:solidFill>
                  <a:srgbClr val="647084"/>
                </a:solidFill>
              </a:rPr>
              <a:t>Overview → filter room type → change time range → inspect map and trend → reset</a:t>
            </a:r>
            <a:endParaRPr lang="en-US" sz="1000" dirty="0"/>
          </a:p>
        </p:txBody>
      </p:sp>
      <p:sp>
        <p:nvSpPr>
          <p:cNvPr id="18" name="Shape 16"/>
          <p:cNvSpPr/>
          <p:nvPr/>
        </p:nvSpPr>
        <p:spPr>
          <a:xfrm>
            <a:off x="6573012" y="3378708"/>
            <a:ext cx="4754880" cy="960120"/>
          </a:xfrm>
          <a:prstGeom prst="roundRect">
            <a:avLst>
              <a:gd name="adj" fmla="val 7619"/>
            </a:avLst>
          </a:prstGeom>
          <a:solidFill>
            <a:srgbClr val="FBFAF6"/>
          </a:solidFill>
          <a:ln w="12700">
            <a:solidFill>
              <a:srgbClr val="D9D2C7">
                <a:alpha val="85000"/>
              </a:srgbClr>
            </a:solidFill>
            <a:prstDash val="solid"/>
          </a:ln>
        </p:spPr>
        <p:txBody>
          <a:bodyPr/>
          <a:lstStyle/>
          <a:p>
            <a:endParaRPr lang="en-TW"/>
          </a:p>
        </p:txBody>
      </p:sp>
      <p:sp>
        <p:nvSpPr>
          <p:cNvPr id="19" name="Shape 17"/>
          <p:cNvSpPr/>
          <p:nvPr/>
        </p:nvSpPr>
        <p:spPr>
          <a:xfrm>
            <a:off x="6573012" y="3378708"/>
            <a:ext cx="73152" cy="960120"/>
          </a:xfrm>
          <a:prstGeom prst="rect">
            <a:avLst/>
          </a:prstGeom>
          <a:solidFill>
            <a:srgbClr val="B95D49"/>
          </a:solidFill>
          <a:ln w="12700">
            <a:solidFill>
              <a:srgbClr val="B95D49"/>
            </a:solidFill>
            <a:prstDash val="solid"/>
          </a:ln>
        </p:spPr>
        <p:txBody>
          <a:bodyPr/>
          <a:lstStyle/>
          <a:p>
            <a:endParaRPr lang="en-TW"/>
          </a:p>
        </p:txBody>
      </p:sp>
      <p:sp>
        <p:nvSpPr>
          <p:cNvPr id="20" name="Text 18"/>
          <p:cNvSpPr/>
          <p:nvPr/>
        </p:nvSpPr>
        <p:spPr>
          <a:xfrm>
            <a:off x="6774180" y="3525012"/>
            <a:ext cx="4425696" cy="228600"/>
          </a:xfrm>
          <a:prstGeom prst="rect">
            <a:avLst/>
          </a:prstGeom>
          <a:noFill/>
          <a:ln/>
        </p:spPr>
        <p:txBody>
          <a:bodyPr wrap="square" lIns="0" tIns="0" rIns="0" bIns="0" rtlCol="0" anchor="ctr"/>
          <a:lstStyle/>
          <a:p>
            <a:pPr marL="0" indent="0">
              <a:buNone/>
            </a:pPr>
            <a:r>
              <a:rPr lang="en-US" sz="1400" b="1" dirty="0">
                <a:solidFill>
                  <a:srgbClr val="1E2633"/>
                </a:solidFill>
              </a:rPr>
              <a:t>Live Demo URL</a:t>
            </a:r>
            <a:endParaRPr lang="en-US" sz="1400" dirty="0"/>
          </a:p>
        </p:txBody>
      </p:sp>
      <p:sp>
        <p:nvSpPr>
          <p:cNvPr id="21" name="Text 19"/>
          <p:cNvSpPr/>
          <p:nvPr/>
        </p:nvSpPr>
        <p:spPr>
          <a:xfrm>
            <a:off x="6774180" y="3863340"/>
            <a:ext cx="4425696" cy="338328"/>
          </a:xfrm>
          <a:prstGeom prst="rect">
            <a:avLst/>
          </a:prstGeom>
          <a:noFill/>
          <a:ln/>
        </p:spPr>
        <p:txBody>
          <a:bodyPr wrap="square" lIns="254" tIns="254" rIns="254" bIns="254" rtlCol="0" anchor="ctr">
            <a:normAutofit/>
          </a:bodyPr>
          <a:lstStyle/>
          <a:p>
            <a:r>
              <a:rPr lang="en-US" sz="1000" dirty="0">
                <a:solidFill>
                  <a:srgbClr val="647084"/>
                </a:solidFill>
                <a:hlinkClick r:id="rId3"/>
              </a:rPr>
              <a:t>https://</a:t>
            </a:r>
            <a:r>
              <a:rPr lang="en-US" sz="1000" dirty="0" err="1">
                <a:solidFill>
                  <a:srgbClr val="647084"/>
                </a:solidFill>
                <a:hlinkClick r:id="rId3"/>
              </a:rPr>
              <a:t>nyc</a:t>
            </a:r>
            <a:r>
              <a:rPr lang="en-US" sz="1000" dirty="0">
                <a:solidFill>
                  <a:srgbClr val="647084"/>
                </a:solidFill>
                <a:hlinkClick r:id="rId3"/>
              </a:rPr>
              <a:t>-</a:t>
            </a:r>
            <a:r>
              <a:rPr lang="en-US" sz="1000" dirty="0" err="1">
                <a:solidFill>
                  <a:srgbClr val="647084"/>
                </a:solidFill>
                <a:hlinkClick r:id="rId3"/>
              </a:rPr>
              <a:t>airbnb</a:t>
            </a:r>
            <a:r>
              <a:rPr lang="en-US" sz="1000" dirty="0">
                <a:solidFill>
                  <a:srgbClr val="647084"/>
                </a:solidFill>
                <a:hlinkClick r:id="rId3"/>
              </a:rPr>
              <a:t>-market-</a:t>
            </a:r>
            <a:r>
              <a:rPr lang="en-US" sz="1000" dirty="0" err="1">
                <a:solidFill>
                  <a:srgbClr val="647084"/>
                </a:solidFill>
                <a:hlinkClick r:id="rId3"/>
              </a:rPr>
              <a:t>explorer.vercel.app</a:t>
            </a:r>
            <a:r>
              <a:rPr lang="en-US" sz="1000" dirty="0">
                <a:solidFill>
                  <a:srgbClr val="647084"/>
                </a:solidFill>
                <a:hlinkClick r:id="rId3"/>
              </a:rPr>
              <a:t>/</a:t>
            </a:r>
            <a:endParaRPr lang="en-US" sz="1000" dirty="0"/>
          </a:p>
        </p:txBody>
      </p:sp>
      <p:sp>
        <p:nvSpPr>
          <p:cNvPr id="22" name="Text 20"/>
          <p:cNvSpPr/>
          <p:nvPr/>
        </p:nvSpPr>
        <p:spPr>
          <a:xfrm>
            <a:off x="6646164" y="5346954"/>
            <a:ext cx="3657600" cy="411480"/>
          </a:xfrm>
          <a:prstGeom prst="rect">
            <a:avLst/>
          </a:prstGeom>
          <a:noFill/>
          <a:ln/>
        </p:spPr>
        <p:txBody>
          <a:bodyPr wrap="square" lIns="0" tIns="0" rIns="0" bIns="0" rtlCol="0" anchor="ctr"/>
          <a:lstStyle/>
          <a:p>
            <a:pPr marL="0" indent="0">
              <a:buNone/>
            </a:pPr>
            <a:r>
              <a:rPr lang="en-US" sz="2800" b="1" dirty="0">
                <a:solidFill>
                  <a:srgbClr val="1E2633"/>
                </a:solidFill>
              </a:rPr>
              <a:t>Thank you!</a:t>
            </a:r>
            <a:endParaRPr lang="en-US" sz="2800" dirty="0"/>
          </a:p>
        </p:txBody>
      </p:sp>
      <p:sp>
        <p:nvSpPr>
          <p:cNvPr id="24" name="Text 21"/>
          <p:cNvSpPr/>
          <p:nvPr/>
        </p:nvSpPr>
        <p:spPr>
          <a:xfrm>
            <a:off x="502920" y="6528816"/>
            <a:ext cx="2926080" cy="164592"/>
          </a:xfrm>
          <a:prstGeom prst="rect">
            <a:avLst/>
          </a:prstGeom>
          <a:noFill/>
          <a:ln/>
        </p:spPr>
        <p:txBody>
          <a:bodyPr wrap="square" lIns="0" tIns="0" rIns="0" bIns="0" rtlCol="0" anchor="ctr"/>
          <a:lstStyle/>
          <a:p>
            <a:pPr marL="0" indent="0">
              <a:buNone/>
            </a:pPr>
            <a:r>
              <a:rPr lang="en-US" sz="650" dirty="0">
                <a:solidFill>
                  <a:srgbClr val="8B94A6"/>
                </a:solidFill>
              </a:rPr>
              <a:t>NYC Airbnb Market Explorer  /  10</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801</TotalTime>
  <Words>1070</Words>
  <Application>Microsoft Macintosh PowerPoint</Application>
  <PresentationFormat>Widescreen</PresentationFormat>
  <Paragraphs>135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NYU Tandon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Airbnb Market Explorer</dc:title>
  <dc:subject>NYC Airbnb Market Explorer</dc:subject>
  <dc:creator>Joyce Fu</dc:creator>
  <cp:lastModifiedBy>Joyce Fu</cp:lastModifiedBy>
  <cp:revision>2</cp:revision>
  <dcterms:created xsi:type="dcterms:W3CDTF">2026-05-05T04:39:57Z</dcterms:created>
  <dcterms:modified xsi:type="dcterms:W3CDTF">2026-05-05T18:05:27Z</dcterms:modified>
</cp:coreProperties>
</file>